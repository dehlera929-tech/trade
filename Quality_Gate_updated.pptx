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3" r:id="rId2"/>
    <p:sldId id="258" r:id="rId3"/>
    <p:sldId id="264" r:id="rId5"/>
    <p:sldId id="265" r:id="rId6"/>
    <p:sldId id="266" r:id="rId7"/>
    <p:sldId id="276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637" autoAdjust="0"/>
  </p:normalViewPr>
  <p:slideViewPr>
    <p:cSldViewPr snapToGrid="0" snapToObjects="1">
      <p:cViewPr varScale="1">
        <p:scale>
          <a:sx n="45" d="100"/>
          <a:sy n="45" d="100"/>
        </p:scale>
        <p:origin x="1005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8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orian Sipp" userId="d035da2f-6b32-4b97-b96c-e937ea87051d" providerId="ADAL" clId="{064B56CB-2E22-40E9-9263-CF87CEC58755}"/>
    <pc:docChg chg="undo redo custSel addSld delSld">
      <pc:chgData name="Florian Sipp" userId="d035da2f-6b32-4b97-b96c-e937ea87051d" providerId="ADAL" clId="{064B56CB-2E22-40E9-9263-CF87CEC58755}" dt="2026-06-18T08:07:13.551" v="15" actId="47"/>
      <pc:docMkLst>
        <pc:docMk/>
      </pc:docMkLst>
      <pc:sldChg chg="del">
        <pc:chgData name="Florian Sipp" userId="d035da2f-6b32-4b97-b96c-e937ea87051d" providerId="ADAL" clId="{064B56CB-2E22-40E9-9263-CF87CEC58755}" dt="2026-06-18T08:04:52.404" v="0" actId="47"/>
        <pc:sldMkLst>
          <pc:docMk/>
          <pc:sldMk cId="0" sldId="256"/>
        </pc:sldMkLst>
      </pc:sldChg>
      <pc:sldChg chg="del">
        <pc:chgData name="Florian Sipp" userId="d035da2f-6b32-4b97-b96c-e937ea87051d" providerId="ADAL" clId="{064B56CB-2E22-40E9-9263-CF87CEC58755}" dt="2026-06-18T08:07:13.551" v="15" actId="47"/>
        <pc:sldMkLst>
          <pc:docMk/>
          <pc:sldMk cId="0" sldId="259"/>
        </pc:sldMkLst>
      </pc:sldChg>
      <pc:sldChg chg="del">
        <pc:chgData name="Florian Sipp" userId="d035da2f-6b32-4b97-b96c-e937ea87051d" providerId="ADAL" clId="{064B56CB-2E22-40E9-9263-CF87CEC58755}" dt="2026-06-18T08:07:05.370" v="14" actId="47"/>
        <pc:sldMkLst>
          <pc:docMk/>
          <pc:sldMk cId="0" sldId="260"/>
        </pc:sldMkLst>
      </pc:sldChg>
      <pc:sldChg chg="del">
        <pc:chgData name="Florian Sipp" userId="d035da2f-6b32-4b97-b96c-e937ea87051d" providerId="ADAL" clId="{064B56CB-2E22-40E9-9263-CF87CEC58755}" dt="2026-06-18T08:05:42.949" v="1" actId="47"/>
        <pc:sldMkLst>
          <pc:docMk/>
          <pc:sldMk cId="0" sldId="262"/>
        </pc:sldMkLst>
      </pc:sldChg>
      <pc:sldChg chg="add del">
        <pc:chgData name="Florian Sipp" userId="d035da2f-6b32-4b97-b96c-e937ea87051d" providerId="ADAL" clId="{064B56CB-2E22-40E9-9263-CF87CEC58755}" dt="2026-06-18T08:06:18.292" v="8" actId="47"/>
        <pc:sldMkLst>
          <pc:docMk/>
          <pc:sldMk cId="0" sldId="263"/>
        </pc:sldMkLst>
      </pc:sldChg>
      <pc:sldChg chg="del">
        <pc:chgData name="Florian Sipp" userId="d035da2f-6b32-4b97-b96c-e937ea87051d" providerId="ADAL" clId="{064B56CB-2E22-40E9-9263-CF87CEC58755}" dt="2026-06-18T08:06:59.935" v="13" actId="47"/>
        <pc:sldMkLst>
          <pc:docMk/>
          <pc:sldMk cId="0" sldId="267"/>
        </pc:sldMkLst>
      </pc:sldChg>
      <pc:sldChg chg="del">
        <pc:chgData name="Florian Sipp" userId="d035da2f-6b32-4b97-b96c-e937ea87051d" providerId="ADAL" clId="{064B56CB-2E22-40E9-9263-CF87CEC58755}" dt="2026-06-18T08:06:44.269" v="11" actId="47"/>
        <pc:sldMkLst>
          <pc:docMk/>
          <pc:sldMk cId="0" sldId="269"/>
        </pc:sldMkLst>
      </pc:sldChg>
      <pc:sldChg chg="del">
        <pc:chgData name="Florian Sipp" userId="d035da2f-6b32-4b97-b96c-e937ea87051d" providerId="ADAL" clId="{064B56CB-2E22-40E9-9263-CF87CEC58755}" dt="2026-06-18T08:06:46.618" v="12" actId="47"/>
        <pc:sldMkLst>
          <pc:docMk/>
          <pc:sldMk cId="0" sldId="270"/>
        </pc:sldMkLst>
      </pc:sldChg>
      <pc:sldChg chg="add del">
        <pc:chgData name="Florian Sipp" userId="d035da2f-6b32-4b97-b96c-e937ea87051d" providerId="ADAL" clId="{064B56CB-2E22-40E9-9263-CF87CEC58755}" dt="2026-06-18T08:06:18.466" v="9" actId="47"/>
        <pc:sldMkLst>
          <pc:docMk/>
          <pc:sldMk cId="0" sldId="271"/>
        </pc:sldMkLst>
      </pc:sldChg>
      <pc:sldChg chg="add del">
        <pc:chgData name="Florian Sipp" userId="d035da2f-6b32-4b97-b96c-e937ea87051d" providerId="ADAL" clId="{064B56CB-2E22-40E9-9263-CF87CEC58755}" dt="2026-06-18T08:06:18.623" v="10" actId="47"/>
        <pc:sldMkLst>
          <pc:docMk/>
          <pc:sldMk cId="0" sldId="272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4AABB-1C20-41A5-ABF5-FC870422F8BE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F181F-6BFB-4DEE-94C2-A5C268449F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325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91695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4415" cy="64008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Results &amp; Action Areas  |  Management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78992"/>
            <a:ext cx="5577840" cy="2926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577840" cy="25603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  KEY FINDINGS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26464"/>
            <a:ext cx="5577840" cy="74980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26464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" y="1499616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508760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481328"/>
            <a:ext cx="5029200" cy="219456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C02A2A"/>
                </a:solidFill>
                <a:latin typeface="Calibri"/>
              </a:rPr>
              <a:t>OI –29% vs.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19072"/>
            <a:ext cx="5029200" cy="42062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1A1A2E"/>
                </a:solidFill>
                <a:latin typeface="Calibri"/>
              </a:rPr>
              <a:t>YTD €25.7M vs. €36.2M YTD plan → remaining target €25.3M to full-year €51M
Run-rate €3.2M/month — below monthly minimum €4.3M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21992"/>
            <a:ext cx="5577840" cy="749808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221992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5488" y="2295144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2304288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276856"/>
            <a:ext cx="5029200" cy="16466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 dirty="0">
                <a:solidFill>
                  <a:srgbClr val="C02A2A"/>
                </a:solidFill>
                <a:latin typeface="Calibri"/>
              </a:rPr>
              <a:t>Win Rate 15 %  (</a:t>
            </a:r>
            <a:r>
              <a:rPr sz="950" b="1" i="0" dirty="0" err="1">
                <a:solidFill>
                  <a:srgbClr val="C02A2A"/>
                </a:solidFill>
                <a:latin typeface="Calibri"/>
              </a:rPr>
              <a:t>historically</a:t>
            </a:r>
            <a:r>
              <a:rPr sz="950" b="1" i="0" dirty="0">
                <a:solidFill>
                  <a:srgbClr val="C02A2A"/>
                </a:solidFill>
                <a:latin typeface="Calibri"/>
              </a:rPr>
              <a:t> &gt; 30 %)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514600"/>
            <a:ext cx="5029200" cy="42062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1A1A2E"/>
                </a:solidFill>
                <a:latin typeface="Calibri"/>
              </a:rPr>
              <a:t>Cost structure too high: design, costing, subcontractors
→ proposals not competitive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5577840" cy="74980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017520"/>
            <a:ext cx="45720" cy="749808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5488" y="3090672"/>
            <a:ext cx="256032" cy="219456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3099815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072384"/>
            <a:ext cx="5029200" cy="16466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 dirty="0">
                <a:solidFill>
                  <a:srgbClr val="C02A2A"/>
                </a:solidFill>
                <a:latin typeface="Calibri"/>
              </a:rPr>
              <a:t>Win mix: &gt; 75% Installed Base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310127"/>
            <a:ext cx="5029200" cy="2523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 i="0" dirty="0">
                <a:solidFill>
                  <a:srgbClr val="1A1A2E"/>
                </a:solidFill>
                <a:latin typeface="Calibri"/>
              </a:rPr>
              <a:t>+€13M CO by Execution → real new share even lower
Greenfield must grow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1078992"/>
            <a:ext cx="5742432" cy="292608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097280"/>
            <a:ext cx="5742432" cy="25603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  ACTION AREAS — EFFECTIVE IMMEDIATELY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1426464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080760" y="1426464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90488" y="1463040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4808" y="1463040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Reduce costs → Win Rate &gt; 25%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1682496"/>
            <a:ext cx="5239512" cy="1415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 dirty="0">
                <a:solidFill>
                  <a:srgbClr val="1A1A2E"/>
                </a:solidFill>
                <a:latin typeface="Calibri"/>
              </a:rPr>
              <a:t>Design identification · Costing · Subcontractors-Procurement · Hardware (Metasys / EasyIO etc.)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057400"/>
            <a:ext cx="5742432" cy="594360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080760" y="2057400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90488" y="2093976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64808" y="2093976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 dirty="0">
                <a:solidFill>
                  <a:srgbClr val="1C2B5A"/>
                </a:solidFill>
                <a:latin typeface="Calibri"/>
              </a:rPr>
              <a:t>Quality Gate + BANT  (≥ 150k)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4808" y="2313432"/>
            <a:ext cx="5239512" cy="26468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r>
              <a:rPr sz="800" b="0" i="0" dirty="0">
                <a:solidFill>
                  <a:srgbClr val="1A1A2E"/>
                </a:solidFill>
                <a:latin typeface="Calibri"/>
              </a:rPr>
              <a:t>7-question briefing + verify Budget · Authority · Need · Timing before every proposal</a:t>
            </a:r>
            <a:r>
              <a:rPr lang="de-DE" sz="800" dirty="0">
                <a:solidFill>
                  <a:srgbClr val="1A1A2E"/>
                </a:solidFill>
              </a:rPr>
              <a:t> · </a:t>
            </a:r>
            <a:r>
              <a:rPr lang="en-GB" sz="800" dirty="0">
                <a:solidFill>
                  <a:srgbClr val="1A1A2E"/>
                </a:solidFill>
                <a:latin typeface="Calibri"/>
              </a:rPr>
              <a:t>Identify potential Change Order / Claims through bidder questions</a:t>
            </a:r>
            <a:endParaRPr sz="80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6080760" y="2688336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080760" y="2688336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90488" y="2724912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8" y="2724912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Pre-Sales Mandatory  (≥ 150k)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4808" y="2944368"/>
            <a:ext cx="5239512" cy="1415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 dirty="0" err="1">
                <a:solidFill>
                  <a:srgbClr val="1A1A2E"/>
                </a:solidFill>
                <a:latin typeface="Calibri"/>
              </a:rPr>
              <a:t>Early involvement of Pre-Sales team 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80760" y="3319272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080760" y="3319272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90488" y="3355848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④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8" y="3355848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Project size: avg. 350k → ≥ 750k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64808" y="3575304"/>
            <a:ext cx="5239512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  <a:latin typeface="Calibri"/>
              </a:rPr>
              <a:t>Fewer, but larger deals · BANT qualification filters out micro-projects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3950208"/>
            <a:ext cx="5742432" cy="594360"/>
          </a:xfrm>
          <a:prstGeom prst="rect">
            <a:avLst/>
          </a:prstGeom>
          <a:solidFill>
            <a:srgbClr val="F4F6FA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080760" y="3950208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90488" y="3986784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8" y="3986784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Vertical focus per location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64808" y="4206240"/>
            <a:ext cx="5239512" cy="141577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 dirty="0" err="1">
                <a:solidFill>
                  <a:srgbClr val="1A1A2E"/>
                </a:solidFill>
                <a:latin typeface="Calibri"/>
              </a:rPr>
              <a:t>Leverage strengths, don't spread thin</a:t>
            </a:r>
            <a:endParaRPr sz="80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6080760" y="4581144"/>
            <a:ext cx="5742432" cy="59436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080760" y="4581144"/>
            <a:ext cx="45720" cy="59436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190488" y="4617720"/>
            <a:ext cx="25603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200" b="1" i="0">
                <a:solidFill>
                  <a:srgbClr val="2D4A8A"/>
                </a:solidFill>
                <a:latin typeface="Calibri"/>
              </a:rPr>
              <a:t>⑥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64808" y="4617720"/>
            <a:ext cx="5239512" cy="20116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50" b="1" i="0">
                <a:solidFill>
                  <a:srgbClr val="1C2B5A"/>
                </a:solidFill>
                <a:latin typeface="Calibri"/>
              </a:rPr>
              <a:t>Greenfield &amp; new customer share increase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8" y="4837176"/>
            <a:ext cx="5239512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  <a:latin typeface="Calibri"/>
              </a:rPr>
              <a:t>Currently 75% Installed Base — strategically grow into new customers &amp; Greenfield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48640" y="6510528"/>
            <a:ext cx="11094415" cy="292608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0">
                <a:solidFill>
                  <a:srgbClr val="8A9ABE"/>
                </a:solidFill>
                <a:latin typeface="Calibri"/>
              </a:rPr>
              <a:t>BTS EUR SCE PE Controls Germany  |  Kaizen Event June 2026  |  Management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64008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Order Intake YTD  |  October 2025 – May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Source: Controlling KPI report (M08) / Ops Review May 2026  |  Figures in €M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80467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732520" y="1097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732520" y="1097280"/>
            <a:ext cx="54864" cy="100584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0" y="1143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Actual YTD (€M)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426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000" b="1" i="0">
                <a:solidFill>
                  <a:srgbClr val="1C2B5A"/>
                </a:solidFill>
                <a:latin typeface="Calibri"/>
              </a:rPr>
              <a:t>25,7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2240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732520" y="2240280"/>
            <a:ext cx="54864" cy="100584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0" y="2286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Plan YTD (€M)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569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000" b="1" i="0">
                <a:solidFill>
                  <a:srgbClr val="2D4A8A"/>
                </a:solidFill>
                <a:latin typeface="Calibri"/>
              </a:rPr>
              <a:t>36,2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383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32520" y="3383280"/>
            <a:ext cx="54864" cy="1005840"/>
          </a:xfrm>
          <a:prstGeom prst="rect">
            <a:avLst/>
          </a:prstGeom>
          <a:solidFill>
            <a:srgbClr val="C0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0" y="3429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712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700" b="1" i="0">
                <a:solidFill>
                  <a:srgbClr val="C02A2A"/>
                </a:solidFill>
                <a:latin typeface="Calibri"/>
              </a:rPr>
              <a:t>–10,4  (–29%)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4526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732520" y="4526280"/>
            <a:ext cx="54864" cy="1005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0" y="4572000"/>
            <a:ext cx="3063240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Prior Year YTD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855464"/>
            <a:ext cx="3063240" cy="62179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2000" b="1" i="0">
                <a:solidFill>
                  <a:srgbClr val="64748B"/>
                </a:solidFill>
                <a:latin typeface="Calibri"/>
              </a:rPr>
              <a:t>29,3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138928"/>
            <a:ext cx="8046720" cy="3200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00" b="1" i="0">
                <a:solidFill>
                  <a:srgbClr val="1C2B5A"/>
                </a:solidFill>
                <a:latin typeface="Calibri"/>
              </a:rPr>
              <a:t>→ Shortfall vs. prior year: –12%  |  Shortfall vs. plan: –29%  |  Remaining time: 4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504688"/>
            <a:ext cx="8229600" cy="25603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* Total Volume Secured YTD M08 (May 2026)  |  Figures in €M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5559552"/>
            <a:ext cx="3063240" cy="786384"/>
          </a:xfrm>
          <a:prstGeom prst="rect">
            <a:avLst/>
          </a:prstGeom>
          <a:solidFill>
            <a:srgbClr val="FFF3E0"/>
          </a:solidFill>
          <a:ln w="10160">
            <a:solidFill>
              <a:srgbClr val="D4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69680" y="5559552"/>
            <a:ext cx="54864" cy="786384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79407" y="5596128"/>
            <a:ext cx="2898648" cy="237744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00" b="1" i="0">
                <a:solidFill>
                  <a:srgbClr val="D46B00"/>
                </a:solidFill>
                <a:latin typeface="Calibri"/>
              </a:rPr>
              <a:t>Avg. actual / month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7" y="5806440"/>
            <a:ext cx="2898648" cy="34747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800" b="1" i="0">
                <a:solidFill>
                  <a:srgbClr val="D46B00"/>
                </a:solidFill>
                <a:latin typeface="Calibri"/>
              </a:rPr>
              <a:t>~€3.2M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7" y="6135624"/>
            <a:ext cx="2898648" cy="18288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YTD €25.7M / 8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852928"/>
            <a:ext cx="12188952" cy="36576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502920"/>
            <a:ext cx="10360152" cy="5029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E09A00"/>
                </a:solidFill>
                <a:latin typeface="Calibri"/>
              </a:rPr>
              <a:t>EFFECTIVE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60152" cy="13716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Calibri"/>
              </a:rPr>
              <a:t>Quality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60152" cy="30777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 dirty="0" err="1">
                <a:solidFill>
                  <a:srgbClr val="E8F0FC"/>
                </a:solidFill>
                <a:latin typeface="Calibri"/>
              </a:rPr>
              <a:t>Mandatory process for all opportunities ≥ €150,000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10360152" cy="8229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300" b="0" i="0">
                <a:solidFill>
                  <a:srgbClr val="A0B4D4"/>
                </a:solidFill>
                <a:latin typeface="Calibri"/>
              </a:rPr>
              <a:t>Goal: Deploy resources strategically  ·  Identify high-potential projects early
Improve costing and decision quality  ·  Recognize low-win projects early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023360"/>
            <a:ext cx="2834640" cy="233172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371600" y="4023360"/>
            <a:ext cx="2834640" cy="502920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08760" y="4059936"/>
            <a:ext cx="2560320" cy="43891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400" b="1" i="0">
                <a:solidFill>
                  <a:srgbClr val="1C2B5A"/>
                </a:solidFill>
                <a:latin typeface="Calibri"/>
              </a:rPr>
              <a:t>1.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590288"/>
            <a:ext cx="2560320" cy="1234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Better proposal quality
through structured
preparation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023360"/>
            <a:ext cx="2834640" cy="233172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63440" y="4023360"/>
            <a:ext cx="2834640" cy="502920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00600" y="4059936"/>
            <a:ext cx="2560320" cy="43891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400" b="1" i="0">
                <a:solidFill>
                  <a:srgbClr val="1C2B5A"/>
                </a:solidFill>
                <a:latin typeface="Calibri"/>
              </a:rPr>
              <a:t>2.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590288"/>
            <a:ext cx="2560320" cy="1234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Resource deployment only
where win probability
is realistic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4023360"/>
            <a:ext cx="2834640" cy="233172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4023360"/>
            <a:ext cx="2834640" cy="502920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92440" y="4059936"/>
            <a:ext cx="2560320" cy="43891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400" b="1" i="0">
                <a:solidFill>
                  <a:srgbClr val="1C2B5A"/>
                </a:solidFill>
                <a:latin typeface="Calibri"/>
              </a:rPr>
              <a:t>3.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4590288"/>
            <a:ext cx="2560320" cy="1234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Management overview
before every proposal
submission ≥ 150k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r>
              <a:rPr sz="2600" b="1" i="0" dirty="0">
                <a:solidFill>
                  <a:srgbClr val="FFFFFF"/>
                </a:solidFill>
                <a:latin typeface="Calibri"/>
              </a:rPr>
              <a:t>Quality Gate  |  The Process (≥ €150,000)  —  simplified to 4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773936" cy="65836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24128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2D4A8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591056" cy="338554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 dirty="0">
                <a:solidFill>
                  <a:srgbClr val="1C2B5A"/>
                </a:solidFill>
                <a:latin typeface="Calibri"/>
              </a:rPr>
              <a:t>Quality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10-min check: answer the
mandatory questions via Teams.
Pre-Sales involved from €150k.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5144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95144" y="1097280"/>
            <a:ext cx="1773936" cy="658368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53511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80943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1C2B5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6584" y="1810512"/>
            <a:ext cx="1591056" cy="16927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lang="de-DE" sz="1100" b="1" i="0" dirty="0">
                <a:solidFill>
                  <a:srgbClr val="1C2B5A"/>
                </a:solidFill>
                <a:latin typeface="Calibri"/>
              </a:rPr>
              <a:t>Send THF file</a:t>
            </a:r>
            <a:endParaRPr sz="1100" b="1" i="0" dirty="0">
              <a:solidFill>
                <a:srgbClr val="1C2B5A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386584" y="2560320"/>
            <a:ext cx="1591056" cy="438582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 dirty="0">
                <a:solidFill>
                  <a:srgbClr val="64748B"/>
                </a:solidFill>
                <a:latin typeface="Calibri"/>
              </a:rPr>
              <a:t>At latest 4 days before
submission deadline
to costing.</a:t>
            </a:r>
            <a:endParaRPr sz="95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50791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24528" y="1097280"/>
            <a:ext cx="1773936" cy="658368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882896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10328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D46B00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1810512"/>
            <a:ext cx="1591056" cy="6858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>
                <a:solidFill>
                  <a:srgbClr val="1C2B5A"/>
                </a:solidFill>
                <a:latin typeface="Calibri"/>
              </a:rPr>
              <a:t>Kick-off Meeting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10 min. with sales:
present project,
clarify questions.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2514600"/>
            <a:ext cx="256032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20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912" y="1097280"/>
            <a:ext cx="177393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53912" y="1097280"/>
            <a:ext cx="1773936" cy="65836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812280" y="118872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39712" y="1207007"/>
            <a:ext cx="402336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600" b="1" i="0">
                <a:solidFill>
                  <a:srgbClr val="2D4A8A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1810512"/>
            <a:ext cx="1591056" cy="6858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100" b="1" i="0">
                <a:solidFill>
                  <a:srgbClr val="1C2B5A"/>
                </a:solidFill>
                <a:latin typeface="Calibri"/>
              </a:rPr>
              <a:t>Go / No-Go
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52" y="2560320"/>
            <a:ext cx="1591056" cy="16916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Final approval for
submission or rejection.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≤10 Min.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68296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386584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–4 days
before deadline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97680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15968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10 Min.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27064" y="4224528"/>
            <a:ext cx="1627632" cy="420624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45352" y="4242816"/>
            <a:ext cx="1591056" cy="40233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850" b="1" i="0">
                <a:solidFill>
                  <a:srgbClr val="2D4A8A"/>
                </a:solidFill>
                <a:latin typeface="Calibri"/>
              </a:rPr>
              <a:t>immediately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00800"/>
            <a:ext cx="11457432" cy="29260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Calibri"/>
              </a:rPr>
              <a:t>* Applies to all proposal submissions ≥ €150,000  |  Pre-Sales involvement mandatory  |  Budget proposals (no win chance): no Pre-Sales, no supplier involvement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91672" cy="43088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r>
              <a:rPr sz="2600" b="1" i="0" dirty="0">
                <a:solidFill>
                  <a:srgbClr val="FFFFFF"/>
                </a:solidFill>
                <a:latin typeface="Calibri"/>
              </a:rPr>
              <a:t>Quality Gate  |  Email Brief Questions  (≥ €150,000)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11457432" cy="45720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4864" cy="457200"/>
          </a:xfrm>
          <a:prstGeom prst="rect">
            <a:avLst/>
          </a:prstGeom>
          <a:solidFill>
            <a:srgbClr val="2D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1069848"/>
            <a:ext cx="11347704" cy="169277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0" i="0" dirty="0">
                <a:solidFill>
                  <a:srgbClr val="2D4A8A"/>
                </a:solidFill>
                <a:latin typeface="Calibri"/>
              </a:rPr>
              <a:t>  Sales answers these 7 questions via </a:t>
            </a:r>
            <a:r>
              <a:rPr lang="de-DE" sz="1100" b="0" i="0" dirty="0">
                <a:solidFill>
                  <a:srgbClr val="2D4A8A"/>
                </a:solidFill>
                <a:latin typeface="Calibri"/>
              </a:rPr>
              <a:t>Teams</a:t>
            </a:r>
            <a:r>
              <a:rPr sz="1100" b="0" i="0" dirty="0">
                <a:solidFill>
                  <a:srgbClr val="2D4A8A"/>
                </a:solidFill>
                <a:latin typeface="Calibri"/>
              </a:rPr>
              <a:t> at the start of every opportunity ≥ 150k  –  max. 10 minutes effort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728216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746504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Win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48840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What technical and commercial design
do we want to win this project with?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4476" y="1691640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94476" y="1691640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4476" y="1691640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12764" y="1728216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1676" y="1746504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Subcontractors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4204" y="2148840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Which subcontractors should
be deployed on this project?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81528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081528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081528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4048" y="3118104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136392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Strategic Importance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3538728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 dirty="0">
                <a:solidFill>
                  <a:srgbClr val="1A1A2E"/>
                </a:solidFill>
                <a:latin typeface="Calibri"/>
              </a:rPr>
              <a:t>Why is this project important for our company
(reference, customer, region, technology)?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4476" y="3081528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94476" y="3081528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94476" y="3081528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12764" y="3118104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1676" y="3136392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Points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4204" y="3538728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How many data points (I/O points) does the project have?
(complexity, size estimate)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71416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4471416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4471416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4048" y="4507992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526280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Special Considerations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4928616"/>
            <a:ext cx="5317236" cy="807913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r>
              <a:rPr sz="1050" b="0" i="0" dirty="0">
                <a:solidFill>
                  <a:srgbClr val="1A1A2E"/>
                </a:solidFill>
                <a:latin typeface="Calibri"/>
              </a:rPr>
              <a:t>Are there project-specific special considerations, risks,
or special requirements to note?</a:t>
            </a:r>
            <a:br>
              <a:rPr lang="de-DE" sz="1050" b="0" i="0" dirty="0">
                <a:solidFill>
                  <a:srgbClr val="1A1A2E"/>
                </a:solidFill>
                <a:latin typeface="Calibri"/>
              </a:rPr>
            </a:br>
            <a:r>
              <a:rPr lang="en-US" sz="1050" dirty="0">
                <a:solidFill>
                  <a:srgbClr val="1A1A2E"/>
                </a:solidFill>
              </a:rPr>
              <a:t>Identify potential Change Order / Claims through bidder questions?</a:t>
            </a:r>
          </a:p>
          <a:p>
            <a:pPr algn="l"/>
            <a:endParaRPr lang="de-DE" sz="1050" b="0" i="0" dirty="0">
              <a:solidFill>
                <a:srgbClr val="1A1A2E"/>
              </a:solidFill>
              <a:latin typeface="Calibri"/>
            </a:endParaRPr>
          </a:p>
          <a:p>
            <a:pPr algn="l"/>
            <a:endParaRPr sz="105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94476" y="4471416"/>
            <a:ext cx="550011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94476" y="4471416"/>
            <a:ext cx="5500116" cy="384048"/>
          </a:xfrm>
          <a:prstGeom prst="rect">
            <a:avLst/>
          </a:prstGeom>
          <a:solidFill>
            <a:srgbClr val="1C2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094476" y="4471416"/>
            <a:ext cx="384048" cy="384048"/>
          </a:xfrm>
          <a:prstGeom prst="rect">
            <a:avLst/>
          </a:prstGeom>
          <a:solidFill>
            <a:srgbClr val="E0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12764" y="4507992"/>
            <a:ext cx="347472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ctr"/>
            <a:r>
              <a:rPr sz="1400" b="1" i="0">
                <a:solidFill>
                  <a:srgbClr val="1C2B5A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1676" y="4526280"/>
            <a:ext cx="4951476" cy="310896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Duration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4204" y="4928616"/>
            <a:ext cx="5317236" cy="795528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What is the planned project duration?
(execution period, milestones)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779008"/>
            <a:ext cx="11228832" cy="731520"/>
          </a:xfrm>
          <a:prstGeom prst="rect">
            <a:avLst/>
          </a:prstGeom>
          <a:solidFill>
            <a:srgbClr val="FFF8E8"/>
          </a:solidFill>
          <a:ln w="12700">
            <a:solidFill>
              <a:srgbClr val="D4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65760" y="5779008"/>
            <a:ext cx="54864" cy="731520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5833872"/>
            <a:ext cx="347472" cy="310896"/>
          </a:xfrm>
          <a:prstGeom prst="rect">
            <a:avLst/>
          </a:prstGeom>
          <a:solidFill>
            <a:srgbClr val="D4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5843016"/>
            <a:ext cx="347472" cy="274320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" y="5843016"/>
            <a:ext cx="2286000" cy="25603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1100" b="1">
                <a:solidFill>
                  <a:srgbClr val="D46B00"/>
                </a:solidFill>
                <a:latin typeface="Calibri"/>
              </a:rPr>
              <a:t>BANT Check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08792" y="5870448"/>
            <a:ext cx="786384" cy="164592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6126480"/>
            <a:ext cx="10332720" cy="295466"/>
          </a:xfrm>
          <a:prstGeom prst="rect">
            <a:avLst/>
          </a:prstGeom>
          <a:noFill/>
        </p:spPr>
        <p:txBody>
          <a:bodyPr wrap="square" lIns="45720" tIns="18288" rIns="45720" bIns="0">
            <a:spAutoFit/>
          </a:bodyPr>
          <a:lstStyle/>
          <a:p>
            <a:pPr algn="l"/>
            <a:r>
              <a:rPr sz="900" b="0" dirty="0">
                <a:solidFill>
                  <a:srgbClr val="1A1A2E"/>
                </a:solidFill>
                <a:latin typeface="Calibri"/>
              </a:rPr>
              <a:t>Budget · Authority · Need · Timing  –  4 criteria to be verified before creating a proposal: Is the budget approved? Are we talking to the decision-maker? Is there a clear need? Is there a binding deadline?  → Details &amp; practical example: Slide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78992"/>
          </a:xfrm>
          <a:prstGeom prst="rect">
            <a:avLst/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969" cy="64008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E09A00"/>
                </a:solidFill>
                <a:latin typeface="Calibri"/>
              </a:rPr>
              <a:t>QUALITY GATE — OWNERSHIP &amp; TRANSITION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062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Gate Owner &amp; Deputy  |  a temporary bridge until competence is built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BTS EUR SCE PE Controls Germany  |  Quality Gate – Ownership &amp; Transition  |  June 2026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1298448"/>
            <a:ext cx="5486400" cy="2670048"/>
          </a:xfrm>
          <a:prstGeom prst="roundRect">
            <a:avLst>
              <a:gd name="adj" fmla="val 6000"/>
            </a:avLst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14447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E09A00"/>
                </a:solidFill>
                <a:latin typeface="Calibri"/>
              </a:rPr>
              <a:t>GATE OWNER (GATEKEEPER)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1755648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" y="1828800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A0B4D4"/>
                </a:solidFill>
                <a:latin typeface="Calibri"/>
              </a:rPr>
              <a:t>Name:  </a:t>
            </a:r>
            <a:r>
              <a:rPr sz="1200" b="1">
                <a:solidFill>
                  <a:srgbClr val="FFFFFF"/>
                </a:solidFill>
                <a:latin typeface="Calibri"/>
              </a:rPr>
              <a:t>________________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2395728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09A00"/>
                </a:solidFill>
                <a:latin typeface="Calibri"/>
              </a:rPr>
              <a:t>Mandate  </a:t>
            </a:r>
            <a:r>
              <a:rPr sz="1150" b="0">
                <a:solidFill>
                  <a:srgbClr val="FFFFFF"/>
                </a:solidFill>
                <a:latin typeface="Calibri"/>
              </a:rPr>
              <a:t>owns the Go/No-Go and may say No-Go.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  <a:r>
              <a:rPr sz="1150" b="1">
                <a:solidFill>
                  <a:srgbClr val="E09A00"/>
                </a:solidFill>
                <a:latin typeface="Calibri"/>
              </a:rPr>
              <a:t>Competence  </a:t>
            </a:r>
            <a:r>
              <a:rPr sz="1150" b="0">
                <a:solidFill>
                  <a:srgbClr val="FFFFFF"/>
                </a:solidFill>
                <a:latin typeface="Calibri"/>
              </a:rPr>
              <a:t>technical + commercial experience — the single quality check for every deal ≥ €150k (closes the fachliche-Eignung gap).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  <a:r>
              <a:rPr sz="1150" b="1">
                <a:solidFill>
                  <a:srgbClr val="E09A00"/>
                </a:solidFill>
                <a:latin typeface="Calibri"/>
              </a:rPr>
              <a:t>Does  </a:t>
            </a:r>
            <a:r>
              <a:rPr sz="1150" b="0">
                <a:solidFill>
                  <a:srgbClr val="FFFFFF"/>
                </a:solidFill>
                <a:latin typeface="Calibri"/>
              </a:rPr>
              <a:t>quick-check · decide ≤ 24 h · document · trigger Pre-Sales / Costing on a Go.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1298448"/>
            <a:ext cx="5486400" cy="2670048"/>
          </a:xfrm>
          <a:prstGeom prst="roundRect">
            <a:avLst>
              <a:gd name="adj" fmla="val 6000"/>
            </a:avLst>
          </a:prstGeom>
          <a:solidFill>
            <a:srgbClr val="1C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28232" y="14447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E09A00"/>
                </a:solidFill>
                <a:latin typeface="Calibri"/>
              </a:rPr>
              <a:t>DEPUTY (STELLVERTRETER)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28232" y="1755648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2D4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0" y="1828800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A0B4D4"/>
                </a:solidFill>
                <a:latin typeface="Calibri"/>
              </a:rPr>
              <a:t>Name:  </a:t>
            </a:r>
            <a:r>
              <a:rPr sz="1200" b="1">
                <a:solidFill>
                  <a:srgbClr val="FFFFFF"/>
                </a:solidFill>
                <a:latin typeface="Calibri"/>
              </a:rPr>
              <a:t>________________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28232" y="2395728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09A00"/>
                </a:solidFill>
                <a:latin typeface="Calibri"/>
              </a:rPr>
              <a:t>Covers  </a:t>
            </a:r>
            <a:r>
              <a:rPr sz="1150" b="0">
                <a:solidFill>
                  <a:srgbClr val="FFFFFF"/>
                </a:solidFill>
                <a:latin typeface="Calibri"/>
              </a:rPr>
              <a:t>the Gate Owner in absence — same mandate &amp; competence.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  <a:r>
              <a:rPr sz="1150" b="1">
                <a:solidFill>
                  <a:srgbClr val="E09A00"/>
                </a:solidFill>
                <a:latin typeface="Calibri"/>
              </a:rPr>
              <a:t>Guarantees  </a:t>
            </a:r>
            <a:r>
              <a:rPr sz="1150" b="0">
                <a:solidFill>
                  <a:srgbClr val="FFFFFF"/>
                </a:solidFill>
                <a:latin typeface="Calibri"/>
              </a:rPr>
              <a:t>the ≤ 24 h decision SLA is always met — no opportunity has to wait.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  <a:r>
              <a:rPr sz="1150" b="1">
                <a:solidFill>
                  <a:srgbClr val="E09A00"/>
                </a:solidFill>
                <a:latin typeface="Calibri"/>
              </a:rPr>
              <a:t>Second view  </a:t>
            </a:r>
            <a:r>
              <a:rPr sz="1150" b="0">
                <a:solidFill>
                  <a:srgbClr val="FFFFFF"/>
                </a:solidFill>
                <a:latin typeface="Calibri"/>
              </a:rPr>
              <a:t>on borderline or high-risk deals when needed.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160520"/>
            <a:ext cx="11183112" cy="187452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2700">
            <a:solidFill>
              <a:srgbClr val="D0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160520"/>
            <a:ext cx="109728" cy="1874520"/>
          </a:xfrm>
          <a:prstGeom prst="rect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29768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>
                <a:solidFill>
                  <a:srgbClr val="2D4A8A"/>
                </a:solidFill>
                <a:latin typeface="Calibri"/>
              </a:rPr>
              <a:t>A TEMPORARY BRIDGE — NOT FOREVER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4681728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C2B5A"/>
                </a:solidFill>
                <a:latin typeface="Calibri"/>
              </a:rPr>
              <a:t>The Quality Gate is a transition measure.</a:t>
            </a:r>
            <a:r>
              <a:rPr sz="1250" b="0">
                <a:solidFill>
                  <a:srgbClr val="1C2B5A"/>
                </a:solidFill>
                <a:latin typeface="Calibri"/>
              </a:rPr>
              <a:t>  It is needed as long as the technical competence (fachliche Eignung) is not yet established across the team.</a:t>
            </a:r>
          </a:p>
          <a:p>
            <a:pPr algn="l">
              <a:lnSpc>
                <a:spcPct val="118000"/>
              </a:lnSpc>
            </a:pPr>
            <a:r>
              <a:rPr sz="1250" b="0">
                <a:solidFill>
                  <a:srgbClr val="1C2B5A"/>
                </a:solidFill>
                <a:latin typeface="Calibri"/>
              </a:rPr>
              <a:t/>
            </a:r>
            <a:r>
              <a:rPr sz="1250" b="0">
                <a:solidFill>
                  <a:srgbClr val="1C2B5A"/>
                </a:solidFill>
                <a:latin typeface="Calibri"/>
              </a:rPr>
              <a:t>As the team builds competence, the gate is simplified step by step — and can later be reduced or phased out.</a:t>
            </a:r>
          </a:p>
          <a:p>
            <a:pPr algn="l">
              <a:lnSpc>
                <a:spcPct val="118000"/>
              </a:lnSpc>
            </a:pPr>
            <a:r>
              <a:rPr sz="1250" b="0">
                <a:solidFill>
                  <a:srgbClr val="1C2B5A"/>
                </a:solidFill>
                <a:latin typeface="Calibri"/>
              </a:rPr>
              <a:t/>
            </a:r>
            <a:r>
              <a:rPr sz="1250" b="1">
                <a:solidFill>
                  <a:srgbClr val="1A7A3C"/>
                </a:solidFill>
                <a:latin typeface="Calibri"/>
              </a:rPr>
              <a:t>Goal:  </a:t>
            </a:r>
            <a:r>
              <a:rPr sz="1250" b="1">
                <a:solidFill>
                  <a:srgbClr val="1A7A3C"/>
                </a:solidFill>
                <a:latin typeface="Calibri"/>
              </a:rPr>
              <a:t>fewer errors now  ·  self-sufficient teams later.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f1e214-7ded-45b6-81a1-9e8ae3459641}" enabled="0" method="" siteId="{a1f1e214-7ded-45b6-81a1-9e8ae34596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1436</Words>
  <Application>Microsoft Office PowerPoint</Application>
  <PresentationFormat>Benutzerdefiniert</PresentationFormat>
  <Paragraphs>186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Florian Sipp</dc:creator>
  <cp:keywords/>
  <cp:lastModifiedBy>Florian Sipp</cp:lastModifiedBy>
  <cp:revision>2</cp:revision>
  <dcterms:created xsi:type="dcterms:W3CDTF">2013-01-27T09:14:16Z</dcterms:created>
  <dcterms:modified xsi:type="dcterms:W3CDTF">2026-06-18T08:07:14Z</dcterms:modified>
  <cp:category/>
</cp:coreProperties>
</file>