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3" r:id="rId2"/>
    <p:sldId id="258" r:id="rId3"/>
    <p:sldId id="261" r:id="rId4"/>
    <p:sldId id="264" r:id="rId5"/>
    <p:sldId id="265" r:id="rId6"/>
    <p:sldId id="266" r:id="rId7"/>
    <p:sldId id="268" r:id="rId8"/>
    <p:sldId id="257" r:id="rId9"/>
    <p:sldId id="274" r:id="rId16"/>
    <p:sldId id="275" r:id="rId17"/>
    <p:sldId id="276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37" autoAdjust="0"/>
  </p:normalViewPr>
  <p:slideViewPr>
    <p:cSldViewPr snapToGrid="0" snapToObjects="1">
      <p:cViewPr varScale="1">
        <p:scale>
          <a:sx n="45" d="100"/>
          <a:sy n="45" d="100"/>
        </p:scale>
        <p:origin x="1005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Sipp" userId="d035da2f-6b32-4b97-b96c-e937ea87051d" providerId="ADAL" clId="{064B56CB-2E22-40E9-9263-CF87CEC58755}"/>
    <pc:docChg chg="undo redo custSel addSld delSld">
      <pc:chgData name="Florian Sipp" userId="d035da2f-6b32-4b97-b96c-e937ea87051d" providerId="ADAL" clId="{064B56CB-2E22-40E9-9263-CF87CEC58755}" dt="2026-06-18T08:07:13.551" v="15" actId="47"/>
      <pc:docMkLst>
        <pc:docMk/>
      </pc:docMkLst>
      <pc:sldChg chg="del">
        <pc:chgData name="Florian Sipp" userId="d035da2f-6b32-4b97-b96c-e937ea87051d" providerId="ADAL" clId="{064B56CB-2E22-40E9-9263-CF87CEC58755}" dt="2026-06-18T08:04:52.404" v="0" actId="47"/>
        <pc:sldMkLst>
          <pc:docMk/>
          <pc:sldMk cId="0" sldId="256"/>
        </pc:sldMkLst>
      </pc:sldChg>
      <pc:sldChg chg="del">
        <pc:chgData name="Florian Sipp" userId="d035da2f-6b32-4b97-b96c-e937ea87051d" providerId="ADAL" clId="{064B56CB-2E22-40E9-9263-CF87CEC58755}" dt="2026-06-18T08:07:13.551" v="15" actId="47"/>
        <pc:sldMkLst>
          <pc:docMk/>
          <pc:sldMk cId="0" sldId="259"/>
        </pc:sldMkLst>
      </pc:sldChg>
      <pc:sldChg chg="del">
        <pc:chgData name="Florian Sipp" userId="d035da2f-6b32-4b97-b96c-e937ea87051d" providerId="ADAL" clId="{064B56CB-2E22-40E9-9263-CF87CEC58755}" dt="2026-06-18T08:07:05.370" v="14" actId="47"/>
        <pc:sldMkLst>
          <pc:docMk/>
          <pc:sldMk cId="0" sldId="260"/>
        </pc:sldMkLst>
      </pc:sldChg>
      <pc:sldChg chg="del">
        <pc:chgData name="Florian Sipp" userId="d035da2f-6b32-4b97-b96c-e937ea87051d" providerId="ADAL" clId="{064B56CB-2E22-40E9-9263-CF87CEC58755}" dt="2026-06-18T08:05:42.949" v="1" actId="47"/>
        <pc:sldMkLst>
          <pc:docMk/>
          <pc:sldMk cId="0" sldId="262"/>
        </pc:sldMkLst>
      </pc:sldChg>
      <pc:sldChg chg="add del">
        <pc:chgData name="Florian Sipp" userId="d035da2f-6b32-4b97-b96c-e937ea87051d" providerId="ADAL" clId="{064B56CB-2E22-40E9-9263-CF87CEC58755}" dt="2026-06-18T08:06:18.292" v="8" actId="47"/>
        <pc:sldMkLst>
          <pc:docMk/>
          <pc:sldMk cId="0" sldId="263"/>
        </pc:sldMkLst>
      </pc:sldChg>
      <pc:sldChg chg="del">
        <pc:chgData name="Florian Sipp" userId="d035da2f-6b32-4b97-b96c-e937ea87051d" providerId="ADAL" clId="{064B56CB-2E22-40E9-9263-CF87CEC58755}" dt="2026-06-18T08:06:59.935" v="13" actId="47"/>
        <pc:sldMkLst>
          <pc:docMk/>
          <pc:sldMk cId="0" sldId="267"/>
        </pc:sldMkLst>
      </pc:sldChg>
      <pc:sldChg chg="del">
        <pc:chgData name="Florian Sipp" userId="d035da2f-6b32-4b97-b96c-e937ea87051d" providerId="ADAL" clId="{064B56CB-2E22-40E9-9263-CF87CEC58755}" dt="2026-06-18T08:06:44.269" v="11" actId="47"/>
        <pc:sldMkLst>
          <pc:docMk/>
          <pc:sldMk cId="0" sldId="269"/>
        </pc:sldMkLst>
      </pc:sldChg>
      <pc:sldChg chg="del">
        <pc:chgData name="Florian Sipp" userId="d035da2f-6b32-4b97-b96c-e937ea87051d" providerId="ADAL" clId="{064B56CB-2E22-40E9-9263-CF87CEC58755}" dt="2026-06-18T08:06:46.618" v="12" actId="47"/>
        <pc:sldMkLst>
          <pc:docMk/>
          <pc:sldMk cId="0" sldId="270"/>
        </pc:sldMkLst>
      </pc:sldChg>
      <pc:sldChg chg="add del">
        <pc:chgData name="Florian Sipp" userId="d035da2f-6b32-4b97-b96c-e937ea87051d" providerId="ADAL" clId="{064B56CB-2E22-40E9-9263-CF87CEC58755}" dt="2026-06-18T08:06:18.466" v="9" actId="47"/>
        <pc:sldMkLst>
          <pc:docMk/>
          <pc:sldMk cId="0" sldId="271"/>
        </pc:sldMkLst>
      </pc:sldChg>
      <pc:sldChg chg="add del">
        <pc:chgData name="Florian Sipp" userId="d035da2f-6b32-4b97-b96c-e937ea87051d" providerId="ADAL" clId="{064B56CB-2E22-40E9-9263-CF87CEC58755}" dt="2026-06-18T08:06:18.623" v="10" actId="47"/>
        <pc:sldMkLst>
          <pc:docMk/>
          <pc:sldMk cId="0" sldId="272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4AABB-1C20-41A5-ABF5-FC870422F8BE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F181F-6BFB-4DEE-94C2-A5C268449F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25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86968"/>
            <a:ext cx="12191695" cy="54864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&amp; Action Areas  |  Management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5577840" cy="29260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577840" cy="256032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26464"/>
            <a:ext cx="55778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26464"/>
            <a:ext cx="45720" cy="74980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499616"/>
            <a:ext cx="256032" cy="219456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508760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481328"/>
            <a:ext cx="5029200" cy="219456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>
                <a:solidFill>
                  <a:srgbClr val="C02A2A"/>
                </a:solidFill>
                <a:latin typeface="Calibri"/>
              </a:rPr>
              <a:t>OI –29% vs.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5029200" cy="420624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1A1A2E"/>
                </a:solidFill>
                <a:latin typeface="Calibri"/>
              </a:rPr>
              <a:t>YTD €25.7M vs. €36.2M YTD plan → remaining target €25.3M to full-year €51M
Run-rate €3.2M/month — below monthly minimum €4.3M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21992"/>
            <a:ext cx="5577840" cy="749808"/>
          </a:xfrm>
          <a:prstGeom prst="rect">
            <a:avLst/>
          </a:prstGeom>
          <a:solidFill>
            <a:srgbClr val="F4F6FA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221992"/>
            <a:ext cx="45720" cy="74980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" y="2295144"/>
            <a:ext cx="256032" cy="219456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2304288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276856"/>
            <a:ext cx="5029200" cy="164660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 dirty="0">
                <a:solidFill>
                  <a:srgbClr val="C02A2A"/>
                </a:solidFill>
                <a:latin typeface="Calibri"/>
              </a:rPr>
              <a:t>Win Rate 21 %  (</a:t>
            </a:r>
            <a:r>
              <a:rPr sz="950" b="1" i="0" dirty="0" err="1">
                <a:solidFill>
                  <a:srgbClr val="C02A2A"/>
                </a:solidFill>
                <a:latin typeface="Calibri"/>
              </a:rPr>
              <a:t>historically</a:t>
            </a:r>
            <a:r>
              <a:rPr sz="950" b="1" i="0" dirty="0">
                <a:solidFill>
                  <a:srgbClr val="C02A2A"/>
                </a:solidFill>
                <a:latin typeface="Calibri"/>
              </a:rPr>
              <a:t> &gt; 30 %)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514600"/>
            <a:ext cx="5029200" cy="420624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1A1A2E"/>
                </a:solidFill>
                <a:latin typeface="Calibri"/>
              </a:rPr>
              <a:t>Cost structure too high: design, costing, subcontractors
→ proposals not competitive enough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5778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45720" cy="74980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5488" y="3090672"/>
            <a:ext cx="256032" cy="219456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3099815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072384"/>
            <a:ext cx="5029200" cy="164660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 dirty="0">
                <a:solidFill>
                  <a:srgbClr val="C02A2A"/>
                </a:solidFill>
                <a:latin typeface="Calibri"/>
              </a:rPr>
              <a:t>Win mix: &gt; 63% Installed Base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310127"/>
            <a:ext cx="5029200" cy="252377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 dirty="0">
                <a:solidFill>
                  <a:srgbClr val="1A1A2E"/>
                </a:solidFill>
                <a:latin typeface="Calibri"/>
              </a:rPr>
              <a:t>+€13M CO by Execution → real new share even lower
Greenfield must grow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13048"/>
            <a:ext cx="5577840" cy="749808"/>
          </a:xfrm>
          <a:prstGeom prst="rect">
            <a:avLst/>
          </a:prstGeom>
          <a:solidFill>
            <a:srgbClr val="F4F6FA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813048"/>
            <a:ext cx="45720" cy="74980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5488" y="3886200"/>
            <a:ext cx="256032" cy="219456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895344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867911"/>
            <a:ext cx="5029200" cy="164660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lang="de-DE" sz="950" b="1" i="0" dirty="0">
                <a:solidFill>
                  <a:srgbClr val="C02A2A"/>
                </a:solidFill>
                <a:latin typeface="Calibri"/>
              </a:rPr>
              <a:t>Customer Visits: Model 15 / Agreed 6 visits/week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105656"/>
            <a:ext cx="5029200" cy="420624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 dirty="0">
                <a:solidFill>
                  <a:srgbClr val="1A1A2E"/>
                </a:solidFill>
                <a:latin typeface="Calibri"/>
              </a:rPr>
              <a:t>The model requires 15 customer visits/week (total team)
Agreed: 6/week → gap –9/week (–60%) → action items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08576"/>
            <a:ext cx="55778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4608576"/>
            <a:ext cx="45720" cy="74980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" y="4681728"/>
            <a:ext cx="256032" cy="219456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4690872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663440"/>
            <a:ext cx="5029200" cy="164660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lang="de-DE" sz="950" b="1" i="0" dirty="0">
                <a:solidFill>
                  <a:srgbClr val="C02A2A"/>
                </a:solidFill>
                <a:latin typeface="Calibri"/>
              </a:rPr>
              <a:t>Pipeline and number of proposals low</a:t>
            </a:r>
            <a:endParaRPr sz="950" b="1" i="0" dirty="0">
              <a:solidFill>
                <a:srgbClr val="C02A2A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80760" y="1078992"/>
            <a:ext cx="5742432" cy="292608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80760" y="1097280"/>
            <a:ext cx="5742432" cy="256032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ACTION AREAS — EFFECTIVE IMMEDIATELY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1426464"/>
            <a:ext cx="5742432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080760" y="1426464"/>
            <a:ext cx="45720" cy="59436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90488" y="1463040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200" b="1" i="0">
                <a:solidFill>
                  <a:srgbClr val="2D4A8A"/>
                </a:solidFill>
                <a:latin typeface="Calibri"/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8" y="1463040"/>
            <a:ext cx="523951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>
                <a:solidFill>
                  <a:srgbClr val="1C2B5A"/>
                </a:solidFill>
                <a:latin typeface="Calibri"/>
              </a:rPr>
              <a:t>Reduce costs → Win Rate &gt; 25%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1682496"/>
            <a:ext cx="5239512" cy="141577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0" i="0" dirty="0">
                <a:solidFill>
                  <a:srgbClr val="1A1A2E"/>
                </a:solidFill>
                <a:latin typeface="Calibri"/>
              </a:rPr>
              <a:t>Design identification · Costing · Subcontractors-Procurement · Hardware (Metasys / EasyIO etc.)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057400"/>
            <a:ext cx="5742432" cy="594360"/>
          </a:xfrm>
          <a:prstGeom prst="rect">
            <a:avLst/>
          </a:prstGeom>
          <a:solidFill>
            <a:srgbClr val="F4F6FA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080760" y="2057400"/>
            <a:ext cx="45720" cy="59436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0488" y="2093976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200" b="1" i="0">
                <a:solidFill>
                  <a:srgbClr val="2D4A8A"/>
                </a:solidFill>
                <a:latin typeface="Calibri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2093976"/>
            <a:ext cx="523951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 dirty="0">
                <a:solidFill>
                  <a:srgbClr val="1C2B5A"/>
                </a:solidFill>
                <a:latin typeface="Calibri"/>
              </a:rPr>
              <a:t>Quality Gate + BANT  (≥ 150k)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4808" y="2313432"/>
            <a:ext cx="5239512" cy="26468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r>
              <a:rPr sz="800" b="0" i="0" dirty="0">
                <a:solidFill>
                  <a:srgbClr val="1A1A2E"/>
                </a:solidFill>
                <a:latin typeface="Calibri"/>
              </a:rPr>
              <a:t>7-question briefing + verify Budget · Authority · Need · Timing before every proposal</a:t>
            </a:r>
            <a:r>
              <a:rPr lang="de-DE" sz="800" dirty="0">
                <a:solidFill>
                  <a:srgbClr val="1A1A2E"/>
                </a:solidFill>
              </a:rPr>
              <a:t> · </a:t>
            </a:r>
            <a:r>
              <a:rPr lang="en-GB" sz="800" dirty="0">
                <a:solidFill>
                  <a:srgbClr val="1A1A2E"/>
                </a:solidFill>
                <a:latin typeface="Calibri"/>
              </a:rPr>
              <a:t>Identify potential Change Order / Claims through bidder questions</a:t>
            </a:r>
            <a:endParaRPr sz="8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080760" y="2688336"/>
            <a:ext cx="5742432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80760" y="2688336"/>
            <a:ext cx="45720" cy="59436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90488" y="2724912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200" b="1" i="0">
                <a:solidFill>
                  <a:srgbClr val="2D4A8A"/>
                </a:solidFill>
                <a:latin typeface="Calibri"/>
              </a:rPr>
              <a:t>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2724912"/>
            <a:ext cx="523951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>
                <a:solidFill>
                  <a:srgbClr val="1C2B5A"/>
                </a:solidFill>
                <a:latin typeface="Calibri"/>
              </a:rPr>
              <a:t>Pre-Sales Mandatory  (≥ 150k)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4808" y="2944368"/>
            <a:ext cx="5239512" cy="141577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0" i="0" dirty="0" err="1">
                <a:solidFill>
                  <a:srgbClr val="1A1A2E"/>
                </a:solidFill>
                <a:latin typeface="Calibri"/>
              </a:rPr>
              <a:t>Early involvement of Pre-Sales team ·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3319272"/>
            <a:ext cx="5742432" cy="594360"/>
          </a:xfrm>
          <a:prstGeom prst="rect">
            <a:avLst/>
          </a:prstGeom>
          <a:solidFill>
            <a:srgbClr val="F4F6FA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080760" y="3319272"/>
            <a:ext cx="45720" cy="59436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90488" y="3355848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200" b="1" i="0">
                <a:solidFill>
                  <a:srgbClr val="2D4A8A"/>
                </a:solidFill>
                <a:latin typeface="Calibri"/>
              </a:rPr>
              <a:t>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4808" y="3355848"/>
            <a:ext cx="523951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>
                <a:solidFill>
                  <a:srgbClr val="1C2B5A"/>
                </a:solidFill>
                <a:latin typeface="Calibri"/>
              </a:rPr>
              <a:t>Customer visits to 6/week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64808" y="3575304"/>
            <a:ext cx="5239512" cy="29260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  <a:latin typeface="Calibri"/>
              </a:rPr>
              <a:t>Projection: 15/week needed → compensate difference through levers ①–③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3950208"/>
            <a:ext cx="5742432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080760" y="3950208"/>
            <a:ext cx="45720" cy="59436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90488" y="3986784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200" b="1" i="0">
                <a:solidFill>
                  <a:srgbClr val="2D4A8A"/>
                </a:solidFill>
                <a:latin typeface="Calibri"/>
              </a:rPr>
              <a:t>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4808" y="3986784"/>
            <a:ext cx="523951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>
                <a:solidFill>
                  <a:srgbClr val="1C2B5A"/>
                </a:solidFill>
                <a:latin typeface="Calibri"/>
              </a:rPr>
              <a:t>Project size: avg. 350k → ≥ 750k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4808" y="4206240"/>
            <a:ext cx="5239512" cy="29260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  <a:latin typeface="Calibri"/>
              </a:rPr>
              <a:t>Fewer, but larger deals · BANT qualification filters out micro-projects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4581144"/>
            <a:ext cx="5742432" cy="594360"/>
          </a:xfrm>
          <a:prstGeom prst="rect">
            <a:avLst/>
          </a:prstGeom>
          <a:solidFill>
            <a:srgbClr val="F4F6FA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080760" y="4581144"/>
            <a:ext cx="45720" cy="59436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90488" y="4617720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200" b="1" i="0">
                <a:solidFill>
                  <a:srgbClr val="2D4A8A"/>
                </a:solidFill>
                <a:latin typeface="Calibri"/>
              </a:rPr>
              <a:t>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8" y="4617720"/>
            <a:ext cx="523951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>
                <a:solidFill>
                  <a:srgbClr val="1C2B5A"/>
                </a:solidFill>
                <a:latin typeface="Calibri"/>
              </a:rPr>
              <a:t>Vertical focus per location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64808" y="4837176"/>
            <a:ext cx="5239512" cy="141577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0" i="0" dirty="0" err="1">
                <a:solidFill>
                  <a:srgbClr val="1A1A2E"/>
                </a:solidFill>
                <a:latin typeface="Calibri"/>
              </a:rPr>
              <a:t>Leverage strengths, don't spread thin</a:t>
            </a:r>
            <a:endParaRPr sz="8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080760" y="5212080"/>
            <a:ext cx="5742432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080760" y="5212080"/>
            <a:ext cx="45720" cy="59436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90488" y="5248656"/>
            <a:ext cx="25603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200" b="1" i="0">
                <a:solidFill>
                  <a:srgbClr val="2D4A8A"/>
                </a:solidFill>
                <a:latin typeface="Calibri"/>
              </a:rPr>
              <a:t>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64808" y="5248656"/>
            <a:ext cx="5239512" cy="20116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50" b="1" i="0">
                <a:solidFill>
                  <a:srgbClr val="1C2B5A"/>
                </a:solidFill>
                <a:latin typeface="Calibri"/>
              </a:rPr>
              <a:t>Greenfield &amp; new customer share increase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4808" y="5468112"/>
            <a:ext cx="5239512" cy="29260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  <a:latin typeface="Calibri"/>
              </a:rPr>
              <a:t>Currently 63% Installed Base — strategically grow into new customers &amp; Greenfield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8640" y="6510528"/>
            <a:ext cx="11094415" cy="292608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0" i="0">
                <a:solidFill>
                  <a:srgbClr val="8A9ABE"/>
                </a:solidFill>
                <a:latin typeface="Calibri"/>
              </a:rPr>
              <a:t>BTS EUR SCE PE Controls Germany  |  Kaizen Event June 2026  |  Management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91672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Order Intake YTD  |  October 2025 –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Source: Controlling KPI report (M08) / Ops Review May 2026  |  Figures in €M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04672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32520" y="109728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32520" y="1097280"/>
            <a:ext cx="54864" cy="100584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0" y="1143000"/>
            <a:ext cx="3063240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Actual YTD (€M)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426464"/>
            <a:ext cx="3063240" cy="62179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000" b="1" i="0">
                <a:solidFill>
                  <a:srgbClr val="1C2B5A"/>
                </a:solidFill>
                <a:latin typeface="Calibri"/>
              </a:rPr>
              <a:t>25,7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224028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32520" y="2240280"/>
            <a:ext cx="54864" cy="100584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2286000"/>
            <a:ext cx="3063240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Plan YTD (€M)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69464"/>
            <a:ext cx="3063240" cy="62179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000" b="1" i="0">
                <a:solidFill>
                  <a:srgbClr val="2D4A8A"/>
                </a:solidFill>
                <a:latin typeface="Calibri"/>
              </a:rPr>
              <a:t>36,2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338328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32520" y="3383280"/>
            <a:ext cx="54864" cy="1005840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3429000"/>
            <a:ext cx="3063240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Variance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12464"/>
            <a:ext cx="3063240" cy="62179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700" b="1" i="0">
                <a:solidFill>
                  <a:srgbClr val="C02A2A"/>
                </a:solidFill>
                <a:latin typeface="Calibri"/>
              </a:rPr>
              <a:t>–10,4  (–29%)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4526280"/>
            <a:ext cx="3291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32520" y="4526280"/>
            <a:ext cx="54864" cy="1005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0" y="4572000"/>
            <a:ext cx="3063240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Prior Year YTD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855464"/>
            <a:ext cx="3063240" cy="62179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  <a:latin typeface="Calibri"/>
              </a:rPr>
              <a:t>29,3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138928"/>
            <a:ext cx="804672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1" i="0">
                <a:solidFill>
                  <a:srgbClr val="1C2B5A"/>
                </a:solidFill>
                <a:latin typeface="Calibri"/>
              </a:rPr>
              <a:t>→ Shortfall vs. prior year: –12%  |  Shortfall vs. plan: –29%  |  Remaining time: 4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04688"/>
            <a:ext cx="8229600" cy="25603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* Total Volume Secured YTD M08 (May 2026)  |  Figures in €M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5559552"/>
            <a:ext cx="3063240" cy="786384"/>
          </a:xfrm>
          <a:prstGeom prst="rect">
            <a:avLst/>
          </a:prstGeom>
          <a:solidFill>
            <a:srgbClr val="FFF3E0"/>
          </a:solidFill>
          <a:ln w="10160">
            <a:solidFill>
              <a:srgbClr val="D4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69680" y="5559552"/>
            <a:ext cx="54864" cy="786384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79407" y="5596128"/>
            <a:ext cx="2898648" cy="237744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00" b="1" i="0">
                <a:solidFill>
                  <a:srgbClr val="D46B00"/>
                </a:solidFill>
                <a:latin typeface="Calibri"/>
              </a:rPr>
              <a:t>Avg. actual /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7" y="5806440"/>
            <a:ext cx="2898648" cy="347472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1800" b="1" i="0">
                <a:solidFill>
                  <a:srgbClr val="D46B00"/>
                </a:solidFill>
                <a:latin typeface="Calibri"/>
              </a:rPr>
              <a:t>~€3.2M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7" y="6135624"/>
            <a:ext cx="2898648" cy="182880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YTD €25.7M / 8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91672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To-Go Analysis  |  June – September 2026 (4 months remaining)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411480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411480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1088136"/>
            <a:ext cx="11347704" cy="33832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D46B00"/>
                </a:solidFill>
                <a:latin typeface="Calibri"/>
              </a:rPr>
              <a:t>  Remaining target to year-end – monthly targets from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11457432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1C2B5A"/>
                </a:solidFill>
                <a:latin typeface="Calibri"/>
              </a:rPr>
              <a:t>ORDER INTAKE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36576" cy="32004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3611880" cy="347472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002536"/>
            <a:ext cx="3429000" cy="15388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Min. OI/month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04872"/>
            <a:ext cx="3429000" cy="14619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lang="de-DE" sz="950" b="0" i="0" dirty="0">
                <a:solidFill>
                  <a:srgbClr val="64748B"/>
                </a:solidFill>
                <a:latin typeface="Calibri"/>
              </a:rPr>
              <a:t>Min target €43M – YTD €25.7M = 17.3 /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60904"/>
            <a:ext cx="3429000" cy="43088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lang="de-DE" sz="2800" b="1" dirty="0">
                <a:solidFill>
                  <a:srgbClr val="D46B00"/>
                </a:solidFill>
                <a:latin typeface="Calibri"/>
              </a:rPr>
              <a:t>&gt;</a:t>
            </a:r>
            <a:r>
              <a:rPr sz="2800" b="1" i="0" dirty="0">
                <a:solidFill>
                  <a:srgbClr val="D46B00"/>
                </a:solidFill>
                <a:latin typeface="Calibri"/>
              </a:rPr>
              <a:t>€4.3M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3429000" cy="4114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Minimum buffer to prevent
underutilization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965960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0" y="1965960"/>
            <a:ext cx="3611880" cy="347472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2002536"/>
            <a:ext cx="3429000" cy="15388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OI/month (plan target)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404872"/>
            <a:ext cx="3429000" cy="25603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Plan €51M – YTD €25.7M = 25.3 /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660904"/>
            <a:ext cx="3429000" cy="7772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800" b="1" i="0">
                <a:solidFill>
                  <a:srgbClr val="C02A2A"/>
                </a:solidFill>
                <a:latin typeface="Calibri"/>
              </a:rPr>
              <a:t>€6.3M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29000"/>
            <a:ext cx="3429000" cy="4114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Required to meet plan;
currently well above actual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965960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3840" y="1965960"/>
            <a:ext cx="3611880" cy="347472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2002536"/>
            <a:ext cx="3429000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Avg. actual/month (current)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404872"/>
            <a:ext cx="3429000" cy="25603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YTD €25.7M / 8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660904"/>
            <a:ext cx="3429000" cy="7772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800" b="1" i="0">
                <a:solidFill>
                  <a:srgbClr val="2D4A8A"/>
                </a:solidFill>
                <a:latin typeface="Calibri"/>
              </a:rPr>
              <a:t>€3.2M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429000"/>
            <a:ext cx="3429000" cy="4114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Below min. OI €4.3M –
gap to plan target –49%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06240"/>
            <a:ext cx="11457432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1C2B5A"/>
                </a:solidFill>
                <a:latin typeface="Calibri"/>
              </a:rPr>
              <a:t>REVENUE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6240"/>
            <a:ext cx="36576" cy="32004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553712"/>
            <a:ext cx="5349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4553712"/>
            <a:ext cx="5349240" cy="347472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590288"/>
            <a:ext cx="5166359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Required revenue/month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92624"/>
            <a:ext cx="5166359" cy="14619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50" b="0" i="0" dirty="0">
                <a:solidFill>
                  <a:srgbClr val="64748B"/>
                </a:solidFill>
                <a:latin typeface="Calibri"/>
              </a:rPr>
              <a:t>Target €41.0M – YTD €24.9M = 16.1 /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48656"/>
            <a:ext cx="5166359" cy="43088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lang="de-DE" sz="2800" b="1" dirty="0">
                <a:solidFill>
                  <a:srgbClr val="1C2B5A"/>
                </a:solidFill>
                <a:latin typeface="Calibri"/>
              </a:rPr>
              <a:t>€4.0M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16752"/>
            <a:ext cx="5166359" cy="4114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Achievable if backlog burn-down
rises to ≥ 7.8% level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4553712"/>
            <a:ext cx="5349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89320" y="4553712"/>
            <a:ext cx="5349240" cy="347472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80759" y="4590288"/>
            <a:ext cx="5166359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Critical Finding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59" y="4992624"/>
            <a:ext cx="5166359" cy="25603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59" y="5248656"/>
            <a:ext cx="5166359" cy="43088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lang="de-DE" sz="2800" b="1" i="0" dirty="0">
                <a:solidFill>
                  <a:srgbClr val="D46B00"/>
                </a:solidFill>
                <a:latin typeface="Calibri"/>
              </a:rPr>
              <a:t>New OI = Backlog =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59" y="6016752"/>
            <a:ext cx="5166359" cy="4114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Without new OI ≥ €4.3M/month
underutilization threatens in Q4 FY26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005072"/>
            <a:ext cx="11457432" cy="164592"/>
          </a:xfrm>
          <a:prstGeom prst="rect">
            <a:avLst/>
          </a:prstGeom>
          <a:solidFill>
            <a:srgbClr val="FFF3E0"/>
          </a:solidFill>
          <a:ln w="6350">
            <a:solidFill>
              <a:srgbClr val="D4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65760" y="4005072"/>
            <a:ext cx="45720" cy="164592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4005072"/>
            <a:ext cx="11274552" cy="164592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800" b="1" i="0">
                <a:solidFill>
                  <a:srgbClr val="D46B00"/>
                </a:solidFill>
                <a:latin typeface="Calibri"/>
              </a:rPr>
              <a:t>  ⚑  Avg. OI run-rate ~€3.2M/month  —  significantly below required min. OI €4.3M/month   (4 months left to close the gap)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309360"/>
            <a:ext cx="11457432" cy="14630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5760" y="6309360"/>
            <a:ext cx="36576" cy="146304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" y="6309360"/>
            <a:ext cx="11311128" cy="146304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750" b="0" i="1">
                <a:solidFill>
                  <a:srgbClr val="D46B00"/>
                </a:solidFill>
                <a:latin typeface="Calibri"/>
              </a:rPr>
              <a:t>  OI YTD €25.7M (M08)  |  Avg. actual/month (8 mo.): €3.2M  |  Required min. OI €4.3M/month remains critical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52928"/>
            <a:ext cx="12188952" cy="36576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02920"/>
            <a:ext cx="10360152" cy="502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E09A00"/>
                </a:solidFill>
                <a:latin typeface="Calibri"/>
              </a:rPr>
              <a:t>EFFECTIVE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60152" cy="13716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60152" cy="30777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2000" b="0" i="0" dirty="0" err="1">
                <a:solidFill>
                  <a:srgbClr val="E8F0FC"/>
                </a:solidFill>
                <a:latin typeface="Calibri"/>
              </a:rPr>
              <a:t>Mandatory process for all opportunities ≥ €150,000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300" b="0" i="0">
                <a:solidFill>
                  <a:srgbClr val="A0B4D4"/>
                </a:solidFill>
                <a:latin typeface="Calibri"/>
              </a:rPr>
              <a:t>Goal: Deploy resources strategically  ·  Identify high-potential projects early
Improve costing and decision quality  ·  Recognize low-win projects early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2834640" cy="233172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4023360"/>
            <a:ext cx="2834640" cy="502920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4059936"/>
            <a:ext cx="2560320" cy="43891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400" b="1" i="0">
                <a:solidFill>
                  <a:srgbClr val="1C2B5A"/>
                </a:solidFill>
                <a:latin typeface="Calibri"/>
              </a:rPr>
              <a:t>1.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590288"/>
            <a:ext cx="2560320" cy="12344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Better proposal quality
through structured
preparation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023360"/>
            <a:ext cx="2834640" cy="233172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4023360"/>
            <a:ext cx="2834640" cy="502920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4059936"/>
            <a:ext cx="2560320" cy="43891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400" b="1" i="0">
                <a:solidFill>
                  <a:srgbClr val="1C2B5A"/>
                </a:solidFill>
                <a:latin typeface="Calibri"/>
              </a:rPr>
              <a:t>2.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590288"/>
            <a:ext cx="2560320" cy="12344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Resource deployment only
where win probability
is realistic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4023360"/>
            <a:ext cx="2834640" cy="233172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4023360"/>
            <a:ext cx="2834640" cy="502920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4059936"/>
            <a:ext cx="2560320" cy="43891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400" b="1" i="0">
                <a:solidFill>
                  <a:srgbClr val="1C2B5A"/>
                </a:solidFill>
                <a:latin typeface="Calibri"/>
              </a:rPr>
              <a:t>3.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590288"/>
            <a:ext cx="2560320" cy="12344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Management overview
before every proposal
submission ≥ 150k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91672" cy="43088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r>
              <a:rPr sz="2600" b="1" i="0" dirty="0">
                <a:solidFill>
                  <a:srgbClr val="FFFFFF"/>
                </a:solidFill>
                <a:latin typeface="Calibri"/>
              </a:rPr>
              <a:t>Quality Gate  |  The Process (≥ €150,000)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77393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773936" cy="658368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8" y="1188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207007"/>
            <a:ext cx="402336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600" b="1" i="0">
                <a:solidFill>
                  <a:srgbClr val="2D4A8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1591056" cy="33855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100" b="1" i="0" dirty="0">
                <a:solidFill>
                  <a:srgbClr val="1C2B5A"/>
                </a:solidFill>
                <a:latin typeface="Calibri"/>
              </a:rPr>
              <a:t>Report
opportunity, incl. BANT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1591056" cy="16916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Sales reports
opportunity to
Leadership (from 150k)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514600"/>
            <a:ext cx="256032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95144" y="1097280"/>
            <a:ext cx="177393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95144" y="1097280"/>
            <a:ext cx="1773936" cy="658368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53511" y="1188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80943" y="1207007"/>
            <a:ext cx="402336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600" b="1" i="0">
                <a:solidFill>
                  <a:srgbClr val="1C2B5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4" y="1810512"/>
            <a:ext cx="1591056" cy="16927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lang="de-DE" sz="1100" b="1" i="0" dirty="0">
                <a:solidFill>
                  <a:srgbClr val="1C2B5A"/>
                </a:solidFill>
                <a:latin typeface="Calibri"/>
              </a:rPr>
              <a:t>Quality Gate</a:t>
            </a:r>
            <a:endParaRPr sz="1100" b="1" i="0" dirty="0">
              <a:solidFill>
                <a:srgbClr val="1C2B5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86584" y="2560320"/>
            <a:ext cx="1591056" cy="43858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950" b="0" i="0" dirty="0">
                <a:solidFill>
                  <a:srgbClr val="64748B"/>
                </a:solidFill>
                <a:latin typeface="Calibri"/>
              </a:rPr>
              <a:t>10-min check:
Answer mandatory
questions via </a:t>
            </a:r>
            <a:r>
              <a:rPr lang="de-DE"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de-DE" sz="950" dirty="0">
                <a:solidFill>
                  <a:srgbClr val="64748B"/>
                </a:solidFill>
                <a:latin typeface="Calibri"/>
              </a:rPr>
              <a:t>Teams</a:t>
            </a:r>
            <a:endParaRPr sz="95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50791" y="2514600"/>
            <a:ext cx="256032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1097280"/>
            <a:ext cx="177393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24528" y="1097280"/>
            <a:ext cx="1773936" cy="658368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82896" y="1188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0328" y="1207007"/>
            <a:ext cx="402336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600" b="1" i="0">
                <a:solidFill>
                  <a:srgbClr val="D46B00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1810512"/>
            <a:ext cx="1591056" cy="6858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100" b="1" i="0">
                <a:solidFill>
                  <a:srgbClr val="1C2B5A"/>
                </a:solidFill>
                <a:latin typeface="Calibri"/>
              </a:rPr>
              <a:t>Send THF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560320"/>
            <a:ext cx="1591056" cy="16916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At latest 4 days
before submission deadline
to costing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2514600"/>
            <a:ext cx="256032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3912" y="1097280"/>
            <a:ext cx="177393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53912" y="1097280"/>
            <a:ext cx="1773936" cy="658368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12280" y="1188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39712" y="1207007"/>
            <a:ext cx="402336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600" b="1" i="0">
                <a:solidFill>
                  <a:srgbClr val="2D4A8A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1810512"/>
            <a:ext cx="1591056" cy="6858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100" b="1" i="0">
                <a:solidFill>
                  <a:srgbClr val="1C2B5A"/>
                </a:solidFill>
                <a:latin typeface="Calibri"/>
              </a:rPr>
              <a:t>Involve
Pre-Sales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2560320"/>
            <a:ext cx="1591056" cy="16916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Pre-Sales team
mandatory
≥ 150k  (Required!)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514600"/>
            <a:ext cx="256032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1097280"/>
            <a:ext cx="177393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83296" y="1097280"/>
            <a:ext cx="1773936" cy="65836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41664" y="1188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69096" y="1207007"/>
            <a:ext cx="402336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600" b="1" i="0">
                <a:solidFill>
                  <a:srgbClr val="1A7A3C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1810512"/>
            <a:ext cx="1591056" cy="6858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100" b="1" i="0">
                <a:solidFill>
                  <a:srgbClr val="1C2B5A"/>
                </a:solidFill>
                <a:latin typeface="Calibri"/>
              </a:rPr>
              <a:t>Kick-off
Meeting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2560320"/>
            <a:ext cx="1591056" cy="16916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10 min. with sales:
Present project,
clarify questions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2514600"/>
            <a:ext cx="256032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12680" y="1097280"/>
            <a:ext cx="1773936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012680" y="1097280"/>
            <a:ext cx="1773936" cy="65836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671048" y="1188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98480" y="1207007"/>
            <a:ext cx="402336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600" b="1" i="0">
                <a:solidFill>
                  <a:srgbClr val="1A7A3C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19" y="1810512"/>
            <a:ext cx="1591056" cy="6858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100" b="1" i="0">
                <a:solidFill>
                  <a:srgbClr val="1C2B5A"/>
                </a:solidFill>
                <a:latin typeface="Calibri"/>
              </a:rPr>
              <a:t>Go / No-Go
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19" y="2560320"/>
            <a:ext cx="1591056" cy="16916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Final approval
for submission or
rejection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68296" y="4224528"/>
            <a:ext cx="1627632" cy="42062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86584" y="4242816"/>
            <a:ext cx="1591056" cy="40233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50" b="1" i="0">
                <a:solidFill>
                  <a:srgbClr val="2D4A8A"/>
                </a:solidFill>
                <a:latin typeface="Calibri"/>
              </a:rPr>
              <a:t>≤10 Min.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4224528"/>
            <a:ext cx="1627632" cy="42062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15968" y="4242816"/>
            <a:ext cx="1591056" cy="40233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50" b="1" i="0">
                <a:solidFill>
                  <a:srgbClr val="2D4A8A"/>
                </a:solidFill>
                <a:latin typeface="Calibri"/>
              </a:rPr>
              <a:t>–4 days
before deadline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27064" y="4224528"/>
            <a:ext cx="1627632" cy="42062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45352" y="4242816"/>
            <a:ext cx="1591056" cy="40233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50" b="1" i="0">
                <a:solidFill>
                  <a:srgbClr val="2D4A8A"/>
                </a:solidFill>
                <a:latin typeface="Calibri"/>
              </a:rPr>
              <a:t>from start of
opportunity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56448" y="4224528"/>
            <a:ext cx="1627632" cy="42062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74736" y="4242816"/>
            <a:ext cx="1591056" cy="40233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50" b="1" i="0">
                <a:solidFill>
                  <a:srgbClr val="2D4A8A"/>
                </a:solidFill>
                <a:latin typeface="Calibri"/>
              </a:rPr>
              <a:t>10 Min.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85832" y="4224528"/>
            <a:ext cx="1627632" cy="420624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04119" y="4242816"/>
            <a:ext cx="1591056" cy="40233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50" b="1" i="0">
                <a:solidFill>
                  <a:srgbClr val="2D4A8A"/>
                </a:solidFill>
                <a:latin typeface="Calibri"/>
              </a:rPr>
              <a:t>immediately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00800"/>
            <a:ext cx="11457432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* Applies to all proposal submissions ≥ €150,000  |  Pre-Sales involvement mandatory  |  Budget proposals (no win chance): no Pre-Sales, no supplier involvement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91672" cy="43088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r>
              <a:rPr sz="2600" b="1" i="0" dirty="0">
                <a:solidFill>
                  <a:srgbClr val="FFFFFF"/>
                </a:solidFill>
                <a:latin typeface="Calibri"/>
              </a:rPr>
              <a:t>Quality Gate  |  Email Brief Questions  (≥ €150,000)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457200"/>
          </a:xfrm>
          <a:prstGeom prst="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45720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1069848"/>
            <a:ext cx="11347704" cy="16927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0" i="0" dirty="0">
                <a:solidFill>
                  <a:srgbClr val="2D4A8A"/>
                </a:solidFill>
                <a:latin typeface="Calibri"/>
              </a:rPr>
              <a:t>  Sales answers these 7 questions via </a:t>
            </a:r>
            <a:r>
              <a:rPr lang="de-DE" sz="1100" b="0" i="0" dirty="0">
                <a:solidFill>
                  <a:srgbClr val="2D4A8A"/>
                </a:solidFill>
                <a:latin typeface="Calibri"/>
              </a:rPr>
              <a:t>Teams</a:t>
            </a:r>
            <a:r>
              <a:rPr sz="1100" b="0" i="0" dirty="0">
                <a:solidFill>
                  <a:srgbClr val="2D4A8A"/>
                </a:solidFill>
                <a:latin typeface="Calibri"/>
              </a:rPr>
              <a:t> at the start of every opportunity ≥ 150k  –  max. 10 minutes effort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5001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500116" cy="384048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84048" cy="384048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728216"/>
            <a:ext cx="347472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1C2B5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46504"/>
            <a:ext cx="4951476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Win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148840"/>
            <a:ext cx="5317236" cy="79552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What technical and commercial design
do we want to win this project with?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6" y="1691640"/>
            <a:ext cx="55001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4476" y="1691640"/>
            <a:ext cx="5500116" cy="384048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4476" y="1691640"/>
            <a:ext cx="384048" cy="384048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12764" y="1728216"/>
            <a:ext cx="347472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1C2B5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1676" y="1746504"/>
            <a:ext cx="4951476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Subcontractors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4204" y="2148840"/>
            <a:ext cx="5317236" cy="79552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Which subcontractors should
be deployed on this project?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81528"/>
            <a:ext cx="55001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081528"/>
            <a:ext cx="5500116" cy="384048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081528"/>
            <a:ext cx="384048" cy="384048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3118104"/>
            <a:ext cx="347472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1C2B5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136392"/>
            <a:ext cx="4951476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Strategic Importance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538728"/>
            <a:ext cx="5317236" cy="79552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  <a:latin typeface="Calibri"/>
              </a:rPr>
              <a:t>Why is this project important for our company
(reference, customer, region, technology)?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3081528"/>
            <a:ext cx="55001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94476" y="3081528"/>
            <a:ext cx="5500116" cy="384048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94476" y="3081528"/>
            <a:ext cx="384048" cy="384048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12764" y="3118104"/>
            <a:ext cx="347472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1C2B5A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1676" y="3136392"/>
            <a:ext cx="4951476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4204" y="3538728"/>
            <a:ext cx="5317236" cy="79552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How many data points (I/O points) does the project have?
(complexity, size estimate)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71416"/>
            <a:ext cx="55001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4471416"/>
            <a:ext cx="5500116" cy="384048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471416"/>
            <a:ext cx="384048" cy="384048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4507992"/>
            <a:ext cx="347472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1C2B5A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526280"/>
            <a:ext cx="4951476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Special Considerations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4928616"/>
            <a:ext cx="5317236" cy="807913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r>
              <a:rPr sz="1050" b="0" i="0" dirty="0">
                <a:solidFill>
                  <a:srgbClr val="1A1A2E"/>
                </a:solidFill>
                <a:latin typeface="Calibri"/>
              </a:rPr>
              <a:t>Are there project-specific special considerations, risks,
or special requirements to note?</a:t>
            </a:r>
            <a:br>
              <a:rPr lang="de-DE" sz="1050" b="0" i="0" dirty="0">
                <a:solidFill>
                  <a:srgbClr val="1A1A2E"/>
                </a:solidFill>
                <a:latin typeface="Calibri"/>
              </a:rPr>
            </a:br>
            <a:r>
              <a:rPr lang="en-US" sz="1050" dirty="0">
                <a:solidFill>
                  <a:srgbClr val="1A1A2E"/>
                </a:solidFill>
              </a:rPr>
              <a:t>Identify potential Change Order / Claims through bidder questions?</a:t>
            </a:r>
          </a:p>
          <a:p>
            <a:pPr algn="l"/>
            <a:endParaRPr lang="de-DE" sz="1050" b="0" i="0" dirty="0">
              <a:solidFill>
                <a:srgbClr val="1A1A2E"/>
              </a:solidFill>
              <a:latin typeface="Calibri"/>
            </a:endParaRPr>
          </a:p>
          <a:p>
            <a:pPr algn="l"/>
            <a:endParaRPr sz="105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94476" y="4471416"/>
            <a:ext cx="55001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94476" y="4471416"/>
            <a:ext cx="5500116" cy="384048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094476" y="4471416"/>
            <a:ext cx="384048" cy="384048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12764" y="4507992"/>
            <a:ext cx="347472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1C2B5A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1676" y="4526280"/>
            <a:ext cx="4951476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4204" y="4928616"/>
            <a:ext cx="5317236" cy="79552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What is the planned project duration?
(execution period, milestones)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779008"/>
            <a:ext cx="11228832" cy="731520"/>
          </a:xfrm>
          <a:prstGeom prst="rect">
            <a:avLst/>
          </a:prstGeom>
          <a:solidFill>
            <a:srgbClr val="FFF8E8"/>
          </a:solidFill>
          <a:ln w="12700">
            <a:solidFill>
              <a:srgbClr val="D4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65760" y="5779008"/>
            <a:ext cx="54864" cy="731520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5833872"/>
            <a:ext cx="347472" cy="310896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843016"/>
            <a:ext cx="347472" cy="274320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843016"/>
            <a:ext cx="2286000" cy="256032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1100" b="1">
                <a:solidFill>
                  <a:srgbClr val="D46B00"/>
                </a:solidFill>
                <a:latin typeface="Calibri"/>
              </a:rPr>
              <a:t>BANT Check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08792" y="5870448"/>
            <a:ext cx="786384" cy="164592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6126480"/>
            <a:ext cx="10332720" cy="295466"/>
          </a:xfrm>
          <a:prstGeom prst="rect">
            <a:avLst/>
          </a:prstGeom>
          <a:noFill/>
        </p:spPr>
        <p:txBody>
          <a:bodyPr wrap="square" lIns="45720" tIns="18288" rIns="45720" bIns="0">
            <a:spAutoFit/>
          </a:bodyPr>
          <a:lstStyle/>
          <a:p>
            <a:pPr algn="l"/>
            <a:r>
              <a:rPr sz="900" b="0" dirty="0">
                <a:solidFill>
                  <a:srgbClr val="1A1A2E"/>
                </a:solidFill>
                <a:latin typeface="Calibri"/>
              </a:rPr>
              <a:t>Budget · Authority · Need · Timing  –  4 criteria to be verified before creating a proposal: Is the budget approved? Are we talking to the decision-maker? Is there a clear need? Is there a binding deadline?  → Details &amp; practical example: Slide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91672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Must-Win Projects (MW)  |  Definition &amp; Tagging in 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457200"/>
          </a:xfrm>
          <a:prstGeom prst="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4572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1069848"/>
            <a:ext cx="11347704" cy="38404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C2B5A"/>
                </a:solidFill>
                <a:latin typeface="Calibri"/>
              </a:rPr>
              <a:t>  A Must-Win project (MW) is a deal where we set special priority for strategic, economic, or capacity reasons and allocate all necessary resources.  Tag in the Next Step field in Salesforce with: [MW]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500116" cy="2084831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500116" cy="475488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" y="174650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1764792"/>
            <a:ext cx="347472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2D4A8A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64792"/>
            <a:ext cx="4860036" cy="34747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Defend Installed 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8476" y="1801368"/>
            <a:ext cx="19202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26764" y="1819656"/>
            <a:ext cx="1883664" cy="23774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00" b="1" i="0">
                <a:solidFill>
                  <a:srgbClr val="2D4A8A"/>
                </a:solidFill>
                <a:latin typeface="Calibri"/>
              </a:rPr>
              <a:t>Customer Relationship &amp;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258568"/>
            <a:ext cx="5244083" cy="1417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We are the incumbent supplier but face active competition. The project must be won to secure the customer relationship and follow-on backlog.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691640"/>
            <a:ext cx="5500116" cy="2084831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4476" y="1691640"/>
            <a:ext cx="5500116" cy="475488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4476" y="1691640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149340" y="174650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8484" y="1764792"/>
            <a:ext cx="347472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D46B00"/>
                </a:solidFill>
                <a:latin typeface="Calibri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3116" y="1764792"/>
            <a:ext cx="4860036" cy="34747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Location Utilization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37192" y="1801368"/>
            <a:ext cx="19202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480" y="1819656"/>
            <a:ext cx="1883664" cy="23774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00" b="1" i="0">
                <a:solidFill>
                  <a:srgbClr val="D46B00"/>
                </a:solidFill>
                <a:latin typeface="Calibri"/>
              </a:rPr>
              <a:t>Capacity Assurance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1636" y="2258568"/>
            <a:ext cx="5244083" cy="1417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The location has a low backlog. The project is needed to secure team utilization and avoid underutilization in the coming quarter.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04487"/>
            <a:ext cx="5500116" cy="2084831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904487"/>
            <a:ext cx="5500116" cy="47548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904487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0624" y="3959351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3977639"/>
            <a:ext cx="347472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1A7A3C"/>
                </a:solidFill>
                <a:latin typeface="Calibri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77639"/>
            <a:ext cx="4860036" cy="34747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Strategic Positioning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08476" y="4014215"/>
            <a:ext cx="19202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26764" y="4032503"/>
            <a:ext cx="1883664" cy="23774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00" b="1" i="0">
                <a:solidFill>
                  <a:srgbClr val="1A7A3C"/>
                </a:solidFill>
                <a:latin typeface="Calibri"/>
              </a:rPr>
              <a:t>Long-term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471416"/>
            <a:ext cx="5244083" cy="1417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Through this project, we position ourselves strategically for follow-on projects and a lifecycle customer over 10+ years. We are positioned as a long-term solution partner.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904487"/>
            <a:ext cx="5500116" cy="2084831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94476" y="3904487"/>
            <a:ext cx="5500116" cy="47548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94476" y="3904487"/>
            <a:ext cx="4754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149340" y="3959351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58484" y="3977639"/>
            <a:ext cx="347472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1" i="0">
                <a:solidFill>
                  <a:srgbClr val="6B21A8"/>
                </a:solidFill>
                <a:latin typeface="Calibri"/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3116" y="3977639"/>
            <a:ext cx="4860036" cy="347472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Vertical Opener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37192" y="4014215"/>
            <a:ext cx="19202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55480" y="4032503"/>
            <a:ext cx="1883664" cy="23774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800" b="1" i="0">
                <a:solidFill>
                  <a:srgbClr val="6B21A8"/>
                </a:solidFill>
                <a:latin typeface="Calibri"/>
              </a:rPr>
              <a:t>Market Expansion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1636" y="4471416"/>
            <a:ext cx="5244083" cy="1417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We are buying into a new vertical. The goal is to open a new market segment (e.g., new customer, industry, or region) and build a repeatable business area.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669280"/>
            <a:ext cx="11228832" cy="548640"/>
          </a:xfrm>
          <a:prstGeom prst="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65760" y="5669280"/>
            <a:ext cx="54864" cy="54864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0624" y="5687568"/>
            <a:ext cx="11347704" cy="47548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50" b="0" i="0">
                <a:solidFill>
                  <a:srgbClr val="2D4A8A"/>
                </a:solidFill>
                <a:latin typeface="Calibri"/>
              </a:rPr>
              <a:t>  Salesforce: Tag [MW] in the Next Step field of the opportunity  |  Discussed as priority in the weekly pipeline review  |  Resource allocation immediately after identification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C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E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91672" cy="6400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Figures at a Glance  |  YTD May 2026 (8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Fiscal month October 2025 –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57432" cy="347472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4864" cy="347472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115568"/>
            <a:ext cx="11347704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D46B00"/>
                </a:solidFill>
                <a:latin typeface="Calibri"/>
              </a:rPr>
              <a:t>  Order Intake –29% behind plan  ·  Revenue tracking  ·  EBIT back to positive (1.0%)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303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64008" cy="1828800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691640"/>
            <a:ext cx="507492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Order Intake YTD (€M)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929384"/>
            <a:ext cx="5074920" cy="502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200" b="1" i="0" dirty="0">
                <a:solidFill>
                  <a:srgbClr val="1C2B5A"/>
                </a:solidFill>
                <a:latin typeface="Calibri"/>
              </a:rPr>
              <a:t>25,7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71800"/>
            <a:ext cx="5074920" cy="32918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C02A2A"/>
                </a:solidFill>
                <a:latin typeface="Calibri"/>
              </a:rPr>
              <a:t>▼  –10.4 vs. Plan  (–29%)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6372" y="2971800"/>
            <a:ext cx="2446020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PY: 29,3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0020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600200"/>
            <a:ext cx="64008" cy="1828800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1691640"/>
            <a:ext cx="51663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Revenue YTD (€M)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1929384"/>
            <a:ext cx="5166360" cy="502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200" b="1" i="0">
                <a:solidFill>
                  <a:srgbClr val="1C2B5A"/>
                </a:solidFill>
                <a:latin typeface="Calibri"/>
              </a:rPr>
              <a:t>24,9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971800"/>
            <a:ext cx="5166360" cy="32918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C02A2A"/>
                </a:solidFill>
                <a:latin typeface="Calibri"/>
              </a:rPr>
              <a:t>▼  –3.0 vs. Plan  (–11%)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7132" y="2971800"/>
            <a:ext cx="2491740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PY: 25,7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5303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64008" cy="1828800"/>
          </a:xfrm>
          <a:prstGeom prst="rect">
            <a:avLst/>
          </a:prstGeom>
          <a:solidFill>
            <a:srgbClr val="D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749039"/>
            <a:ext cx="507492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Order Backlog (Backlog, €M)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986784"/>
            <a:ext cx="5074920" cy="502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200" b="1" i="0">
                <a:solidFill>
                  <a:srgbClr val="1C2B5A"/>
                </a:solidFill>
                <a:latin typeface="Calibri"/>
              </a:rPr>
              <a:t>47,8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029200"/>
            <a:ext cx="5074920" cy="32918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C02A2A"/>
                </a:solidFill>
                <a:latin typeface="Calibri"/>
              </a:rPr>
              <a:t>▼  –7.9 vs. Plan  (–14%)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6372" y="5029200"/>
            <a:ext cx="2446020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PY: 52,5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65760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3657600"/>
            <a:ext cx="64008" cy="1828800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65392" y="3749039"/>
            <a:ext cx="5166360" cy="274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EBIT ROS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3986784"/>
            <a:ext cx="5166360" cy="5029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2200" b="1" i="0">
                <a:solidFill>
                  <a:srgbClr val="1A7A3C"/>
                </a:solidFill>
                <a:latin typeface="Calibri"/>
              </a:rPr>
              <a:t>1,0 %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5029200"/>
            <a:ext cx="5166360" cy="329184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100" b="1" i="0">
                <a:solidFill>
                  <a:srgbClr val="C02A2A"/>
                </a:solidFill>
                <a:latin typeface="Calibri"/>
              </a:rPr>
              <a:t>▼  –2.2 pp vs. Plan (3.2%)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7132" y="5029200"/>
            <a:ext cx="2491740" cy="3108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PY: 1,0 %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3246120"/>
            <a:ext cx="5212080" cy="2286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Plan YTD: 36.2  |  Prior year: 29.3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246120"/>
            <a:ext cx="5212080" cy="2286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Plan YTD: 28.0  |  Prior year: 25.7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303520"/>
            <a:ext cx="5212080" cy="2286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Plan: 55.7  |  Backlog margin %: 21.5% (Plan: 21.7%)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303520"/>
            <a:ext cx="5212080" cy="2286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Plan: 3.2%  |  EBIT YTD: +€0.25M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88754C1-71CD-BA41-A67F-04384B0853E3}"/>
              </a:ext>
            </a:extLst>
          </p:cNvPr>
          <p:cNvSpPr txBox="1"/>
          <p:nvPr/>
        </p:nvSpPr>
        <p:spPr>
          <a:xfrm>
            <a:off x="438912" y="5613149"/>
            <a:ext cx="530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Source: Controlling KPI report — YTD May 2026 (M08)  |  Figures in €M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78992"/>
          </a:xfrm>
          <a:prstGeom prst="rect">
            <a:avLst/>
          </a:prstGeom>
          <a:solidFill>
            <a:srgbClr val="1C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969" cy="64008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E09A00"/>
                </a:solidFill>
                <a:latin typeface="Calibri"/>
              </a:rPr>
              <a:t>FUTURE STATE — KAIZEN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Gate 2.0  |  Simpler, faster, one owner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074920" cy="178308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E6C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447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B42323"/>
                </a:solidFill>
                <a:latin typeface="Calibri"/>
              </a:rPr>
              <a:t>WHY WE NEED THE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2B5A"/>
                </a:solidFill>
                <a:latin typeface="Calibri"/>
              </a:rPr>
              <a:t>Too many errors in proposals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 — costing &amp; technical scope not right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/>
            </a:r>
            <a:r>
              <a:rPr sz="1200" b="1" i="0">
                <a:solidFill>
                  <a:srgbClr val="1C2B5A"/>
                </a:solidFill>
                <a:latin typeface="Calibri"/>
              </a:rPr>
              <a:t>Technical capability (fachliche Eignung) not consistently in the team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2B5A"/>
                </a:solidFill>
                <a:latin typeface="Calibri"/>
              </a:rPr>
              <a:t/>
            </a:r>
            <a:r>
              <a:rPr sz="1200" b="1" i="0">
                <a:solidFill>
                  <a:srgbClr val="1C2B5A"/>
                </a:solidFill>
                <a:latin typeface="Calibri"/>
              </a:rPr>
              <a:t>Current 6-step gate is too complex — slows sales 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25880"/>
            <a:ext cx="5897880" cy="178308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4447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D4A8A"/>
                </a:solidFill>
                <a:latin typeface="Calibri"/>
              </a:rPr>
              <a:t>THE BIG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755648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C2B5A"/>
                </a:solidFill>
                <a:latin typeface="Calibri"/>
              </a:rPr>
              <a:t>One named Quality-Gate Owner (Gatekeeper)</a:t>
            </a:r>
            <a:r>
              <a:rPr sz="1200" b="0" i="0">
                <a:solidFill>
                  <a:srgbClr val="1C2B5A"/>
                </a:solidFill>
                <a:latin typeface="Calibri"/>
              </a:rPr>
              <a:t> with the technical &amp; commercial competence makes the Go/No-Go.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5A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5A"/>
                </a:solidFill>
                <a:latin typeface="Calibri"/>
              </a:rPr>
              <a:t/>
            </a:r>
            <a:r>
              <a:rPr sz="1200" b="1" i="0">
                <a:solidFill>
                  <a:srgbClr val="2D4A8A"/>
                </a:solidFill>
                <a:latin typeface="Calibri"/>
              </a:rPr>
              <a:t>Easy to submit · fast decision · no extra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37560"/>
            <a:ext cx="36301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3630168" cy="91440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502152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E09A00"/>
                </a:solidFill>
                <a:latin typeface="Calibri"/>
              </a:rPr>
              <a:t>EASY TO SUBMIT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785615"/>
            <a:ext cx="32644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C2B5A"/>
                </a:solidFill>
                <a:latin typeface="Calibri"/>
              </a:rPr>
              <a:t>Sales registers in ≤ 3 min via one short Teams/SharePoint 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2816" y="3337560"/>
            <a:ext cx="36301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6" y="3337560"/>
            <a:ext cx="3630168" cy="91440"/>
          </a:xfrm>
          <a:prstGeom prst="rect">
            <a:avLst/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3502152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1A7A3C"/>
                </a:solidFill>
                <a:latin typeface="Calibri"/>
              </a:rPr>
              <a:t>FAST GO / NO-GO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3785615"/>
            <a:ext cx="32644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C2B5A"/>
                </a:solidFill>
                <a:latin typeface="Calibri"/>
              </a:rPr>
              <a:t>Decision within ≤ 24 h — no committee, no waiting.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3337560"/>
            <a:ext cx="36301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3337560"/>
            <a:ext cx="3630168" cy="91440"/>
          </a:xfrm>
          <a:prstGeom prst="rect">
            <a:avLst/>
          </a:prstGeom>
          <a:solidFill>
            <a:srgbClr val="2D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3502152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2D4A8A"/>
                </a:solidFill>
                <a:latin typeface="Calibri"/>
              </a:rPr>
              <a:t>NO OVERHEAD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785615"/>
            <a:ext cx="32644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C2B5A"/>
                </a:solidFill>
                <a:latin typeface="Calibri"/>
              </a:rPr>
              <a:t>Owner triggers Pre-Sales / Costing only on a Go.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11155680" cy="16002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718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1C2B5A"/>
                </a:solidFill>
                <a:latin typeface="Calibri"/>
              </a:rPr>
              <a:t>CURRENT STATE  →  FUTURE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01091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1C2B5A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29200"/>
            <a:ext cx="201168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Process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029200"/>
            <a:ext cx="457200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8A5A5A"/>
                </a:solidFill>
                <a:latin typeface="Calibri"/>
              </a:rPr>
              <a:t>6 steps (report → gate → THF → Pre-Sales → kick-off → Go)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029200"/>
            <a:ext cx="402336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A7A3C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1C2B5A"/>
                </a:solidFill>
                <a:latin typeface="Calibri"/>
              </a:rPr>
              <a:t>3 steps (submit → review → Go/No-Go)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312664"/>
            <a:ext cx="201168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Who decides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5312664"/>
            <a:ext cx="457200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8A5A5A"/>
                </a:solidFill>
                <a:latin typeface="Calibri"/>
              </a:rPr>
              <a:t>Shifting / unclear, multiple hand-offs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312664"/>
            <a:ext cx="402336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A7A3C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1C2B5A"/>
                </a:solidFill>
                <a:latin typeface="Calibri"/>
              </a:rPr>
              <a:t>1 named Gate Owner (+ deputy)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96128"/>
            <a:ext cx="201168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596128"/>
            <a:ext cx="457200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8A5A5A"/>
                </a:solidFill>
                <a:latin typeface="Calibri"/>
              </a:rPr>
              <a:t>Up to 4 days, several meetings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596128"/>
            <a:ext cx="402336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A7A3C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1C2B5A"/>
                </a:solidFill>
                <a:latin typeface="Calibri"/>
              </a:rPr>
              <a:t>≤ 24 h, no meeting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879592"/>
            <a:ext cx="201168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Sales effort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5879592"/>
            <a:ext cx="457200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8A5A5A"/>
                </a:solidFill>
                <a:latin typeface="Calibri"/>
              </a:rPr>
              <a:t>7 questions, ~10+ min, repeated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879592"/>
            <a:ext cx="4023360" cy="283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A7A3C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1C2B5A"/>
                </a:solidFill>
                <a:latin typeface="Calibri"/>
              </a:rPr>
              <a:t>4 questions, ≤ 3 min, one 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BTS EUR SCE PE Controls Germany  |  Quality Gate 2.0 – Future State (Kaizen)  |  June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78992"/>
          </a:xfrm>
          <a:prstGeom prst="rect">
            <a:avLst/>
          </a:prstGeom>
          <a:solidFill>
            <a:srgbClr val="1C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969" cy="64008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E09A00"/>
                </a:solidFill>
                <a:latin typeface="Calibri"/>
              </a:rPr>
              <a:t>FUTURE STATE — THE NEW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Gate 2.0  |  3 steps to a Go/No-Go  (≥ €150k)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429000" cy="109728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892807"/>
            <a:ext cx="640080" cy="640080"/>
          </a:xfrm>
          <a:prstGeom prst="ellipse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19659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C2B5A"/>
                </a:solidFill>
                <a:latin typeface="Calibri"/>
              </a:rPr>
              <a:t>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8892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C2B5A"/>
                </a:solidFill>
                <a:latin typeface="Calibri"/>
              </a:rPr>
              <a:t>Sales fills ONE short form (Teams / SharePoint): 4 questions + BANT.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3474720"/>
            <a:ext cx="2916936" cy="329184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D4A8A"/>
                </a:solidFill>
                <a:latin typeface="Calibri"/>
              </a:rPr>
              <a:t>≤ 3 min  ·  Sales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60520" y="2601468"/>
            <a:ext cx="320040" cy="329184"/>
          </a:xfrm>
          <a:prstGeom prst="chevron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60020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600200"/>
            <a:ext cx="3429000" cy="109728"/>
          </a:xfrm>
          <a:prstGeom prst="rect">
            <a:avLst/>
          </a:prstGeom>
          <a:solidFill>
            <a:srgbClr val="2D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28032" y="1892807"/>
            <a:ext cx="640080" cy="640080"/>
          </a:xfrm>
          <a:prstGeom prst="ellipse">
            <a:avLst/>
          </a:prstGeom>
          <a:solidFill>
            <a:srgbClr val="2D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19659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C2B5A"/>
                </a:solidFill>
                <a:latin typeface="Calibri"/>
              </a:rPr>
              <a:t>Owner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78892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C2B5A"/>
                </a:solidFill>
                <a:latin typeface="Calibri"/>
              </a:rPr>
              <a:t>Gate Owner does the technical &amp; commercial quick-check, asks back if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2" y="3474720"/>
            <a:ext cx="2916936" cy="329184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352044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D4A8A"/>
                </a:solidFill>
                <a:latin typeface="Calibri"/>
              </a:rPr>
              <a:t>same day  ·  Gate Owner</a:t>
            </a:r>
          </a:p>
        </p:txBody>
      </p:sp>
      <p:sp>
        <p:nvSpPr>
          <p:cNvPr id="22" name="Chevron 21"/>
          <p:cNvSpPr/>
          <p:nvPr/>
        </p:nvSpPr>
        <p:spPr>
          <a:xfrm>
            <a:off x="8092440" y="2601468"/>
            <a:ext cx="320040" cy="329184"/>
          </a:xfrm>
          <a:prstGeom prst="chevron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19" y="160020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19" y="1600200"/>
            <a:ext cx="3429000" cy="109728"/>
          </a:xfrm>
          <a:prstGeom prst="rect">
            <a:avLst/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9951" y="1892807"/>
            <a:ext cx="640080" cy="640080"/>
          </a:xfrm>
          <a:prstGeom prst="ellipse">
            <a:avLst/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19659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C2B5A"/>
                </a:solidFill>
                <a:latin typeface="Calibri"/>
              </a:rPr>
              <a:t>Go / No-Go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1" y="278892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C2B5A"/>
                </a:solidFill>
                <a:latin typeface="Calibri"/>
              </a:rPr>
              <a:t>Documented decision. On GO the Owner triggers Pre-Sales / Costing.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59951" y="3474720"/>
            <a:ext cx="2916936" cy="329184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951" y="352044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D4A8A"/>
                </a:solidFill>
                <a:latin typeface="Calibri"/>
              </a:rPr>
              <a:t>≤ 24 h  ·  Gate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1C2B5A"/>
                </a:solidFill>
                <a:latin typeface="Calibri"/>
              </a:rPr>
              <a:t>THE PROMISE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62272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462272"/>
            <a:ext cx="91440" cy="566928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526280"/>
            <a:ext cx="33375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SALES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4736592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1C2B5A"/>
                </a:solidFill>
                <a:latin typeface="Calibri"/>
              </a:rPr>
              <a:t>≤ 3 min — one form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4462272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4462272"/>
            <a:ext cx="91440" cy="566928"/>
          </a:xfrm>
          <a:prstGeom prst="rect">
            <a:avLst/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4526280"/>
            <a:ext cx="33375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DECISION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736592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1C2B5A"/>
                </a:solidFill>
                <a:latin typeface="Calibri"/>
              </a:rPr>
              <a:t>≤ 24 h — Go / No-Go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01583" y="4462272"/>
            <a:ext cx="35661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3" y="4462272"/>
            <a:ext cx="91440" cy="566928"/>
          </a:xfrm>
          <a:prstGeom prst="rect">
            <a:avLst/>
          </a:prstGeom>
          <a:solidFill>
            <a:srgbClr val="2D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452628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73659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1C2B5A"/>
                </a:solidFill>
                <a:latin typeface="Calibri"/>
              </a:rPr>
              <a:t>1 Owner instead of committee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303520"/>
            <a:ext cx="11027664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41324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C2B5A"/>
                </a:solidFill>
                <a:latin typeface="Calibri"/>
              </a:rPr>
              <a:t>Scope:  </a:t>
            </a:r>
            <a:r>
              <a:rPr sz="1150" b="0" i="0">
                <a:solidFill>
                  <a:srgbClr val="1C2B5A"/>
                </a:solidFill>
                <a:latin typeface="Calibri"/>
              </a:rPr>
              <a:t>mandatory for all opportunities ≥ €150k.   </a:t>
            </a:r>
            <a:r>
              <a:rPr sz="1150" b="1" i="0">
                <a:solidFill>
                  <a:srgbClr val="B42323"/>
                </a:solidFill>
                <a:latin typeface="Calibri"/>
              </a:rPr>
              <a:t>No-Go is allowed and documented — a fast No-Go protects capacity.   </a:t>
            </a:r>
            <a:r>
              <a:rPr sz="1150" b="0" i="0">
                <a:solidFill>
                  <a:srgbClr val="64748B"/>
                </a:solidFill>
                <a:latin typeface="Calibri"/>
              </a:rPr>
              <a:t>Budget proposals with no win chance: No-Go, no Pre-Sales / no supplier effort.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BTS EUR SCE PE Controls Germany  |  Quality Gate 2.0 – Future State (Kaizen)  |  June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78992"/>
          </a:xfrm>
          <a:prstGeom prst="rect">
            <a:avLst/>
          </a:prstGeom>
          <a:solidFill>
            <a:srgbClr val="1C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969" cy="64008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E09A00"/>
                </a:solidFill>
                <a:latin typeface="Calibri"/>
              </a:rPr>
              <a:t>FUTURE STATE — ROLE &amp;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Gate 2.0  |  The Gate Owner &amp; the 4-question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074920" cy="2788920"/>
          </a:xfrm>
          <a:prstGeom prst="roundRect">
            <a:avLst>
              <a:gd name="adj" fmla="val 8000"/>
            </a:avLst>
          </a:prstGeom>
          <a:solidFill>
            <a:srgbClr val="1C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E09A00"/>
                </a:solidFill>
                <a:latin typeface="Calibri"/>
              </a:rPr>
              <a:t>THE GATE OWNER (GATEKEEPER)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47088"/>
            <a:ext cx="4617720" cy="502920"/>
          </a:xfrm>
          <a:prstGeom prst="roundRect">
            <a:avLst>
              <a:gd name="adj" fmla="val 8000"/>
            </a:avLst>
          </a:prstGeom>
          <a:solidFill>
            <a:srgbClr val="2D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A0B4D4"/>
                </a:solidFill>
                <a:latin typeface="Calibri"/>
              </a:rPr>
              <a:t>Name: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________________   (deputy: __________)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E09A00"/>
                </a:solidFill>
                <a:latin typeface="Calibri"/>
              </a:rPr>
              <a:t>Mandate</a:t>
            </a:r>
          </a:p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E09A00"/>
                </a:solidFill>
                <a:latin typeface="Calibri"/>
              </a:rPr>
              <a:t/>
            </a:r>
            <a:r>
              <a:rPr sz="1150" b="0" i="0">
                <a:solidFill>
                  <a:srgbClr val="FFFFFF"/>
                </a:solidFill>
                <a:latin typeface="Calibri"/>
              </a:rPr>
              <a:t>Owns the Go/No-Go decision and may say No-Go.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/>
            </a:r>
            <a:r>
              <a:rPr sz="1150" b="1" i="0">
                <a:solidFill>
                  <a:srgbClr val="E09A00"/>
                </a:solidFill>
                <a:latin typeface="Calibri"/>
              </a:rPr>
              <a:t>Competence (solves fachliche Eignung)</a:t>
            </a:r>
          </a:p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E09A00"/>
                </a:solidFill>
                <a:latin typeface="Calibri"/>
              </a:rPr>
              <a:t/>
            </a:r>
            <a:r>
              <a:rPr sz="1150" b="0" i="0">
                <a:solidFill>
                  <a:srgbClr val="FFFFFF"/>
                </a:solidFill>
                <a:latin typeface="Calibri"/>
              </a:rPr>
              <a:t>Technical + commercial project experience; the single point that quality-checks every deal ≥ €150k.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/>
            </a:r>
            <a:r>
              <a:rPr sz="1150" b="1" i="0">
                <a:solidFill>
                  <a:srgbClr val="E09A00"/>
                </a:solidFill>
                <a:latin typeface="Calibri"/>
              </a:rPr>
              <a:t>Responsibility</a:t>
            </a:r>
          </a:p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E09A00"/>
                </a:solidFill>
                <a:latin typeface="Calibri"/>
              </a:rPr>
              <a:t/>
            </a:r>
            <a:r>
              <a:rPr sz="1150" b="0" i="0">
                <a:solidFill>
                  <a:srgbClr val="FFFFFF"/>
                </a:solidFill>
                <a:latin typeface="Calibri"/>
              </a:rPr>
              <a:t>Quick-check, decide, document, and trigger Pre-Sales / Costing on a 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371600"/>
            <a:ext cx="5897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371600"/>
            <a:ext cx="5897880" cy="109728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D46B00"/>
                </a:solidFill>
                <a:latin typeface="Calibri"/>
              </a:rPr>
              <a:t>THE 4-QUESTION QUICK INTAKE   (was 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874519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E09A00"/>
                </a:solidFill>
                <a:latin typeface="Calibri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C2B5A"/>
                </a:solidFill>
                <a:latin typeface="Calibri"/>
              </a:rPr>
              <a:t>What &amp; how big — data points (I/O) and order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8084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E09A00"/>
                </a:solidFill>
                <a:latin typeface="Calibri"/>
              </a:rP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808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C2B5A"/>
                </a:solidFill>
                <a:latin typeface="Calibri"/>
              </a:rPr>
              <a:t>BANT — Budget · Authority · Need · Timing confirmed?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48716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E09A00"/>
                </a:solidFill>
                <a:latin typeface="Calibri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871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C2B5A"/>
                </a:solidFill>
                <a:latin typeface="Calibri"/>
              </a:rPr>
              <a:t>Win design — how do we technically/commercially win it?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793491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E09A00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93491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C2B5A"/>
                </a:solidFill>
                <a:latin typeface="Calibri"/>
              </a:rPr>
              <a:t>Risks — subcontractors, claims / change-order potential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3310128"/>
            <a:ext cx="2852928" cy="868680"/>
          </a:xfrm>
          <a:prstGeom prst="roundRect">
            <a:avLst>
              <a:gd name="adj" fmla="val 8000"/>
            </a:avLst>
          </a:prstGeom>
          <a:solidFill>
            <a:srgbClr val="E7F3EA"/>
          </a:solidFill>
          <a:ln w="12700">
            <a:solidFill>
              <a:srgbClr val="B9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4015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  <a:latin typeface="Calibri"/>
              </a:rPr>
              <a:t>GO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675887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C2B5A"/>
                </a:solidFill>
                <a:latin typeface="Calibri"/>
              </a:rPr>
              <a:t>BANT solid · win design clear · risks owned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05672" y="3310128"/>
            <a:ext cx="2852928" cy="86868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E6C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552" y="34015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B42323"/>
                </a:solidFill>
                <a:latin typeface="Calibri"/>
              </a:rPr>
              <a:t>NO-GO  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3675887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C2B5A"/>
                </a:solidFill>
                <a:latin typeface="Calibri"/>
              </a:rPr>
              <a:t>no budget · no real need · unmanaged risk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34840"/>
            <a:ext cx="11155680" cy="169164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2700">
            <a:solidFill>
              <a:srgbClr val="D0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537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D4A8A"/>
                </a:solidFill>
                <a:latin typeface="Calibri"/>
              </a:rPr>
              <a:t>TO DECIDE THIS AFTERNOON  (live)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6460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1C2B5A"/>
                </a:solidFill>
                <a:latin typeface="Calibri"/>
              </a:rPr>
              <a:t>▢ Who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86460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1C2B5A"/>
                </a:solidFill>
                <a:latin typeface="Calibri"/>
              </a:rPr>
              <a:t>Name the Gate Owner + deputy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86460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1C2B5A"/>
                </a:solidFill>
                <a:latin typeface="Calibri"/>
              </a:rPr>
              <a:t>▢ Where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86460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1C2B5A"/>
                </a:solidFill>
                <a:latin typeface="Calibri"/>
              </a:rPr>
              <a:t>One intake form — Teams or SharePoint list?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76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1C2B5A"/>
                </a:solidFill>
                <a:latin typeface="Calibri"/>
              </a:rPr>
              <a:t>▢ SLA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27608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1C2B5A"/>
                </a:solidFill>
                <a:latin typeface="Calibri"/>
              </a:rPr>
              <a:t>Confirm ≤ 24 h decision 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5276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1C2B5A"/>
                </a:solidFill>
                <a:latin typeface="Calibri"/>
              </a:rPr>
              <a:t>▢ Limit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27608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1C2B5A"/>
                </a:solidFill>
                <a:latin typeface="Calibri"/>
              </a:rPr>
              <a:t>Keep €150k threshold or adjust?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6875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1C2B5A"/>
                </a:solidFill>
                <a:latin typeface="Calibri"/>
              </a:rPr>
              <a:t>▢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6875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1C2B5A"/>
                </a:solidFill>
                <a:latin typeface="Calibri"/>
              </a:rPr>
              <a:t>Where is the Go/No-Go logged (Salesforce Next Step)?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56875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1C2B5A"/>
                </a:solidFill>
                <a:latin typeface="Calibri"/>
              </a:rPr>
              <a:t>▢ KPI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6875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1C2B5A"/>
                </a:solidFill>
                <a:latin typeface="Calibri"/>
              </a:rPr>
              <a:t>Track: error rate ↓ · win rate ↑ · cycle time 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BTS EUR SCE PE Controls Germany  |  Quality Gate 2.0 – Future State (Kaizen)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1f1e214-7ded-45b6-81a1-9e8ae3459641}" enabled="0" method="" siteId="{a1f1e214-7ded-45b6-81a1-9e8ae345964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</Words>
  <Application>Microsoft Office PowerPoint</Application>
  <PresentationFormat>Benutzerdefiniert</PresentationFormat>
  <Paragraphs>186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Florian Sipp</dc:creator>
  <cp:keywords/>
  <cp:lastModifiedBy>Florian Sipp</cp:lastModifiedBy>
  <cp:revision>2</cp:revision>
  <dcterms:created xsi:type="dcterms:W3CDTF">2013-01-27T09:14:16Z</dcterms:created>
  <dcterms:modified xsi:type="dcterms:W3CDTF">2026-06-18T08:07:14Z</dcterms:modified>
  <cp:category/>
</cp:coreProperties>
</file>